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projects, both 6 months, both under Prof. Duttagupta. Today: what has been set up in the first phase and the development plan. If asked directly: months 1-2 went into onboarding, access and design work; implementation starts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per theme is enough. The common thread: real financial data breaks the assumptions standard ML makes. The under-1% skew is the easiest hook, it also explains why we evaluate with AUROC and F1 instead of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decisions are made and each has a reason, e.g. VAE over GAN for training stability, prototypical networks avoid retraining when a new fraud type appears. Both projects draw on one shared dataset pool, detailed on slide 5, which saves setup effort and keeps benchmarks comparable. Be clear these are finalised designs, training starts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pitch: a BERT-like pre-trained model for financial tables. The architecture comparison is worth saying out loud, FT-Transformer handles amounts and timestamps (numeric) plus merchant and channel (categorical); TabTransformer drops the numeric side, which carries most of the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 of the Project 1 approach slide. Order of implementation matters: 2.1 and 2.2 first because everything else builds on the pre-trained encoder; 2.3 and 2.5 reuse it; 2.4 is deferred until the transaction encoder is stable, which is a deliberate design decision, not a delay. The hypothesis at the bottom gives the review a falsifiable claim, which professors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shared dataset pool serves both projects, that is deliberate: one pre-processing effort, comparable benchmarks. Six public datasets mapped to themes across fraud, credit, retail and healthcare, which is what makes the cross-industry claim credible. MIMIC-III goes through PhysioNet credentialing, in progress and only needed for the final validation phase, so nothing is blocked. Theme 2.4 text data (EDGAR / FinQA) is intentionally deferred until the transaction encoder is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projects share the first two phases (onboarding and pipelines), then split into parallel model-development tracks and converge again for reporting. The red line is today: at the end of the shared groundwork phase, about to start pipelines and baselines. Paper writing begins in October, overlapping the final project month, with November and December reserved for conference submissions, presentations and journal follow-up beyond the funded 6-month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 the timeline plainly: onboarding and data access in an industry-partnered lab genuinely take time, both professors know this. The strength here is specificity, dated phases and three measurable 30-day commitments. If pressed on why training has not started: the design phase is complete, which is what makes these commitments realistic. Close by asking for input on priorities before the Optiver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1371600"/>
            <a:ext cx="8229600" cy="457200"/>
          </a:xfrm>
          <a:prstGeom prst="rect">
            <a:avLst/>
          </a:prstGeom>
          <a:noFill/>
          <a:ln/>
        </p:spPr>
        <p:txBody>
          <a:bodyPr wrap="square" lIns="0" tIns="0" rIns="0" bIns="0" rtlCol="0" anchor="ctr"/>
          <a:lstStyle/>
          <a:p>
            <a:pPr indent="0" marL="0">
              <a:buNone/>
            </a:pPr>
            <a:r>
              <a:rPr lang="en-US" sz="2000" dirty="0">
                <a:solidFill>
                  <a:srgbClr val="595959"/>
                </a:solidFill>
                <a:latin typeface="Calibri" pitchFamily="34" charset="0"/>
                <a:ea typeface="Calibri" pitchFamily="34" charset="-122"/>
                <a:cs typeface="Calibri" pitchFamily="34" charset="-120"/>
              </a:rPr>
              <a:t>IITB - Optiver AI Innovation Lab</a:t>
            </a:r>
            <a:endParaRPr lang="en-US" sz="2000" dirty="0"/>
          </a:p>
        </p:txBody>
      </p:sp>
      <p:sp>
        <p:nvSpPr>
          <p:cNvPr id="3" name="Text 1"/>
          <p:cNvSpPr/>
          <p:nvPr/>
        </p:nvSpPr>
        <p:spPr>
          <a:xfrm>
            <a:off x="457200" y="1828800"/>
            <a:ext cx="8229600" cy="640080"/>
          </a:xfrm>
          <a:prstGeom prst="rect">
            <a:avLst/>
          </a:prstGeom>
          <a:noFill/>
          <a:ln/>
        </p:spPr>
        <p:txBody>
          <a:bodyPr wrap="square" lIns="0" tIns="0" rIns="0" bIns="0" rtlCol="0" anchor="ctr"/>
          <a:lstStyle/>
          <a:p>
            <a:pPr indent="0" marL="0">
              <a:buNone/>
            </a:pPr>
            <a:r>
              <a:rPr lang="en-US" sz="3200" b="1" dirty="0">
                <a:solidFill>
                  <a:srgbClr val="1F3864"/>
                </a:solidFill>
                <a:latin typeface="Calibri" pitchFamily="34" charset="0"/>
                <a:ea typeface="Calibri" pitchFamily="34" charset="-122"/>
                <a:cs typeface="Calibri" pitchFamily="34" charset="-120"/>
              </a:rPr>
              <a:t>Progress Update: Research Projects</a:t>
            </a:r>
            <a:endParaRPr lang="en-US" sz="3200" dirty="0"/>
          </a:p>
        </p:txBody>
      </p:sp>
      <p:sp>
        <p:nvSpPr>
          <p:cNvPr id="4" name="Text 2"/>
          <p:cNvSpPr/>
          <p:nvPr/>
        </p:nvSpPr>
        <p:spPr>
          <a:xfrm>
            <a:off x="457200" y="2606040"/>
            <a:ext cx="8229600" cy="731520"/>
          </a:xfrm>
          <a:prstGeom prst="rect">
            <a:avLst/>
          </a:prstGeom>
          <a:noFill/>
          <a:ln/>
        </p:spPr>
        <p:txBody>
          <a:bodyPr wrap="square" lIns="0" tIns="0" rIns="0" bIns="0" rtlCol="0" anchor="ctr"/>
          <a:lstStyle/>
          <a:p>
            <a:pPr indent="0" marL="0">
              <a:buNone/>
            </a:pPr>
            <a:r>
              <a:rPr lang="en-US" sz="1500" dirty="0">
                <a:solidFill>
                  <a:srgbClr val="262626"/>
                </a:solidFill>
                <a:latin typeface="Calibri" pitchFamily="34" charset="0"/>
                <a:ea typeface="Calibri" pitchFamily="34" charset="-122"/>
                <a:cs typeface="Calibri" pitchFamily="34" charset="-120"/>
              </a:rPr>
              <a:t>Project 1: Learning from Sparse, Skewed, or Irregular Data (Themes 1.1 to 1.5)</a:t>
            </a:r>
            <a:endParaRPr lang="en-US" sz="1500" dirty="0"/>
          </a:p>
          <a:p>
            <a:pPr indent="0" marL="0">
              <a:buNone/>
            </a:pPr>
            <a:r>
              <a:rPr lang="en-US" sz="1500" dirty="0">
                <a:solidFill>
                  <a:srgbClr val="262626"/>
                </a:solidFill>
                <a:latin typeface="Calibri" pitchFamily="34" charset="0"/>
                <a:ea typeface="Calibri" pitchFamily="34" charset="-122"/>
                <a:cs typeface="Calibri" pitchFamily="34" charset="-120"/>
              </a:rPr>
              <a:t>Project 2: Foundation Models for Tabular &amp; Time-Series Data (Themes 2.1 to 2.5)</a:t>
            </a:r>
            <a:endParaRPr lang="en-US" sz="1500" dirty="0"/>
          </a:p>
        </p:txBody>
      </p:sp>
      <p:sp>
        <p:nvSpPr>
          <p:cNvPr id="5" name="Text 3"/>
          <p:cNvSpPr/>
          <p:nvPr/>
        </p:nvSpPr>
        <p:spPr>
          <a:xfrm>
            <a:off x="457200" y="3749040"/>
            <a:ext cx="8229600" cy="914400"/>
          </a:xfrm>
          <a:prstGeom prst="rect">
            <a:avLst/>
          </a:prstGeom>
          <a:noFill/>
          <a:ln/>
        </p:spPr>
        <p:txBody>
          <a:bodyPr wrap="square" lIns="0" tIns="0" rIns="0" bIns="0" rtlCol="0" anchor="ctr"/>
          <a:lstStyle/>
          <a:p>
            <a:pPr indent="0" marL="0">
              <a:buNone/>
            </a:pPr>
            <a:r>
              <a:rPr lang="en-US" sz="1300" dirty="0">
                <a:solidFill>
                  <a:srgbClr val="595959"/>
                </a:solidFill>
                <a:latin typeface="Calibri" pitchFamily="34" charset="0"/>
                <a:ea typeface="Calibri" pitchFamily="34" charset="-122"/>
                <a:cs typeface="Calibri" pitchFamily="34" charset="-120"/>
              </a:rPr>
              <a:t>PI: Prof. Siddhartha Duttagupta, Electrical Engineering, IIT Bombay</a:t>
            </a:r>
            <a:endParaRPr lang="en-US" sz="1300" dirty="0"/>
          </a:p>
          <a:p>
            <a:pPr indent="0" marL="0">
              <a:buNone/>
            </a:pPr>
            <a:r>
              <a:rPr lang="en-US" sz="1300" dirty="0">
                <a:solidFill>
                  <a:srgbClr val="595959"/>
                </a:solidFill>
                <a:latin typeface="Calibri" pitchFamily="34" charset="0"/>
                <a:ea typeface="Calibri" pitchFamily="34" charset="-122"/>
                <a:cs typeface="Calibri" pitchFamily="34" charset="-120"/>
              </a:rPr>
              <a:t>Presented by: Aabid Hassan</a:t>
            </a:r>
            <a:endParaRPr lang="en-US" sz="1300" dirty="0"/>
          </a:p>
          <a:p>
            <a:pPr indent="0" marL="0">
              <a:buNone/>
            </a:pPr>
            <a:r>
              <a:rPr lang="en-US" sz="1300" dirty="0">
                <a:solidFill>
                  <a:srgbClr val="595959"/>
                </a:solidFill>
                <a:latin typeface="Calibri" pitchFamily="34" charset="0"/>
                <a:ea typeface="Calibri" pitchFamily="34" charset="-122"/>
                <a:cs typeface="Calibri" pitchFamily="34" charset="-120"/>
              </a:rPr>
              <a:t>10 July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indent="0" marL="0">
              <a:buNone/>
            </a:pPr>
            <a:r>
              <a:rPr lang="en-US" sz="2400" b="1" dirty="0">
                <a:solidFill>
                  <a:srgbClr val="1F3864"/>
                </a:solidFill>
                <a:latin typeface="Calibri" pitchFamily="34" charset="0"/>
                <a:ea typeface="Calibri" pitchFamily="34" charset="-122"/>
                <a:cs typeface="Calibri" pitchFamily="34" charset="-120"/>
              </a:rPr>
              <a:t>Project 1: Learning from Sparse, Skewed, or Irregular Data</a:t>
            </a:r>
            <a:endParaRPr lang="en-US" sz="2400" dirty="0"/>
          </a:p>
        </p:txBody>
      </p:sp>
      <p:sp>
        <p:nvSpPr>
          <p:cNvPr id="3" name="Text 1"/>
          <p:cNvSpPr/>
          <p:nvPr/>
        </p:nvSpPr>
        <p:spPr>
          <a:xfrm>
            <a:off x="457200" y="1005840"/>
            <a:ext cx="8229600" cy="685800"/>
          </a:xfrm>
          <a:prstGeom prst="rect">
            <a:avLst/>
          </a:prstGeom>
          <a:noFill/>
          <a:ln/>
        </p:spPr>
        <p:txBody>
          <a:bodyPr wrap="square" lIns="0" tIns="0" rIns="0" bIns="0" rtlCol="0" anchor="ctr"/>
          <a:lstStyle/>
          <a:p>
            <a:pPr indent="0" marL="0">
              <a:buNone/>
            </a:pPr>
            <a:r>
              <a:rPr lang="en-US" sz="1400" dirty="0">
                <a:solidFill>
                  <a:srgbClr val="262626"/>
                </a:solidFill>
                <a:latin typeface="Calibri" pitchFamily="34" charset="0"/>
                <a:ea typeface="Calibri" pitchFamily="34" charset="-122"/>
                <a:cs typeface="Calibri" pitchFamily="34" charset="-120"/>
              </a:rPr>
              <a:t>Goal: build models that stay reliable on real financial data, where events are irregular, labels are scarce, attributes go missing, and critical cases (fraud, defaults) are under 1% of records.</a:t>
            </a:r>
            <a:endParaRPr lang="en-US" sz="1400" dirty="0"/>
          </a:p>
        </p:txBody>
      </p:sp>
      <p:sp>
        <p:nvSpPr>
          <p:cNvPr id="4" name="Text 2"/>
          <p:cNvSpPr/>
          <p:nvPr/>
        </p:nvSpPr>
        <p:spPr>
          <a:xfrm>
            <a:off x="457200" y="1828800"/>
            <a:ext cx="8229600" cy="320040"/>
          </a:xfrm>
          <a:prstGeom prst="rect">
            <a:avLst/>
          </a:prstGeom>
          <a:noFill/>
          <a:ln/>
        </p:spPr>
        <p:txBody>
          <a:bodyPr wrap="square" lIns="0" tIns="0" rIns="0" bIns="0" rtlCol="0" anchor="ctr"/>
          <a:lstStyle/>
          <a:p>
            <a:pPr indent="0" marL="0">
              <a:buNone/>
            </a:pPr>
            <a:r>
              <a:rPr lang="en-US" sz="1400" b="1" dirty="0">
                <a:solidFill>
                  <a:srgbClr val="262626"/>
                </a:solidFill>
                <a:latin typeface="Calibri" pitchFamily="34" charset="0"/>
                <a:ea typeface="Calibri" pitchFamily="34" charset="-122"/>
                <a:cs typeface="Calibri" pitchFamily="34" charset="-120"/>
              </a:rPr>
              <a:t>Research themes:</a:t>
            </a:r>
            <a:endParaRPr lang="en-US" sz="1400" dirty="0"/>
          </a:p>
        </p:txBody>
      </p:sp>
      <p:sp>
        <p:nvSpPr>
          <p:cNvPr id="5" name="Text 3"/>
          <p:cNvSpPr/>
          <p:nvPr/>
        </p:nvSpPr>
        <p:spPr>
          <a:xfrm>
            <a:off x="457200" y="2194560"/>
            <a:ext cx="8229600" cy="265176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262626"/>
                </a:solidFill>
                <a:latin typeface="Calibri" pitchFamily="34" charset="0"/>
                <a:ea typeface="Calibri" pitchFamily="34" charset="-122"/>
                <a:cs typeface="Calibri" pitchFamily="34" charset="-120"/>
              </a:rPr>
              <a:t>1.1  Sparse event sequences: model long, irregular gaps between transactions as a behavioural signal rather than missing data</a:t>
            </a:r>
            <a:endParaRPr lang="en-US" sz="1350" dirty="0"/>
          </a:p>
          <a:p>
            <a:pPr marL="342900" indent="-342900">
              <a:spcAft>
                <a:spcPts val="800"/>
              </a:spcAft>
              <a:buSzPct val="100000"/>
              <a:buChar char="•"/>
            </a:pPr>
            <a:r>
              <a:rPr lang="en-US" sz="1350" dirty="0">
                <a:solidFill>
                  <a:srgbClr val="262626"/>
                </a:solidFill>
                <a:latin typeface="Calibri" pitchFamily="34" charset="0"/>
                <a:ea typeface="Calibri" pitchFamily="34" charset="-122"/>
                <a:cs typeface="Calibri" pitchFamily="34" charset="-120"/>
              </a:rPr>
              <a:t>1.2  Few-shot / zero-shot risk prediction: generalise to new fraud types from very few labeled examples</a:t>
            </a:r>
            <a:endParaRPr lang="en-US" sz="1350" dirty="0"/>
          </a:p>
          <a:p>
            <a:pPr marL="342900" indent="-342900">
              <a:spcAft>
                <a:spcPts val="800"/>
              </a:spcAft>
              <a:buSzPct val="100000"/>
              <a:buChar char="•"/>
            </a:pPr>
            <a:r>
              <a:rPr lang="en-US" sz="1350" dirty="0">
                <a:solidFill>
                  <a:srgbClr val="262626"/>
                </a:solidFill>
                <a:latin typeface="Calibri" pitchFamily="34" charset="0"/>
                <a:ea typeface="Calibri" pitchFamily="34" charset="-122"/>
                <a:cs typeface="Calibri" pitchFamily="34" charset="-120"/>
              </a:rPr>
              <a:t>1.3  Missing features in multimodal data: keep predictions stable when KYC, demographic or behavioural channels are absent</a:t>
            </a:r>
            <a:endParaRPr lang="en-US" sz="1350" dirty="0"/>
          </a:p>
          <a:p>
            <a:pPr marL="342900" indent="-342900">
              <a:spcAft>
                <a:spcPts val="800"/>
              </a:spcAft>
              <a:buSzPct val="100000"/>
              <a:buChar char="•"/>
            </a:pPr>
            <a:r>
              <a:rPr lang="en-US" sz="1350" dirty="0">
                <a:solidFill>
                  <a:srgbClr val="262626"/>
                </a:solidFill>
                <a:latin typeface="Calibri" pitchFamily="34" charset="0"/>
                <a:ea typeface="Calibri" pitchFamily="34" charset="-122"/>
                <a:cs typeface="Calibri" pitchFamily="34" charset="-120"/>
              </a:rPr>
              <a:t>1.4  Generative reconstruction: use a VAE to denoise sparse customer histories into stable representations</a:t>
            </a:r>
            <a:endParaRPr lang="en-US" sz="1350" dirty="0"/>
          </a:p>
          <a:p>
            <a:pPr marL="342900" indent="-342900">
              <a:spcAft>
                <a:spcPts val="800"/>
              </a:spcAft>
              <a:buSzPct val="100000"/>
              <a:buChar char="•"/>
            </a:pPr>
            <a:r>
              <a:rPr lang="en-US" sz="1350" dirty="0">
                <a:solidFill>
                  <a:srgbClr val="262626"/>
                </a:solidFill>
                <a:latin typeface="Calibri" pitchFamily="34" charset="0"/>
                <a:ea typeface="Calibri" pitchFamily="34" charset="-122"/>
                <a:cs typeface="Calibri" pitchFamily="34" charset="-120"/>
              </a:rPr>
              <a:t>1.5  Extreme class imbalance: train effectively when positives are below 1% of the data</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indent="0" marL="0">
              <a:buNone/>
            </a:pPr>
            <a:r>
              <a:rPr lang="en-US" sz="2400" b="1" dirty="0">
                <a:solidFill>
                  <a:srgbClr val="1F3864"/>
                </a:solidFill>
                <a:latin typeface="Calibri" pitchFamily="34" charset="0"/>
                <a:ea typeface="Calibri" pitchFamily="34" charset="-122"/>
                <a:cs typeface="Calibri" pitchFamily="34" charset="-120"/>
              </a:rPr>
              <a:t>Project 1: Modelling Approach</a:t>
            </a:r>
            <a:endParaRPr lang="en-US" sz="2400" dirty="0"/>
          </a:p>
        </p:txBody>
      </p:sp>
      <p:sp>
        <p:nvSpPr>
          <p:cNvPr id="3" name="Text 1"/>
          <p:cNvSpPr/>
          <p:nvPr/>
        </p:nvSpPr>
        <p:spPr>
          <a:xfrm>
            <a:off x="457200" y="960120"/>
            <a:ext cx="8229600" cy="457200"/>
          </a:xfrm>
          <a:prstGeom prst="rect">
            <a:avLst/>
          </a:prstGeom>
          <a:noFill/>
          <a:ln/>
        </p:spPr>
        <p:txBody>
          <a:bodyPr wrap="square" lIns="0" tIns="0" rIns="0" bIns="0" rtlCol="0" anchor="ctr"/>
          <a:lstStyle/>
          <a:p>
            <a:pPr indent="0" marL="0">
              <a:buNone/>
            </a:pPr>
            <a:r>
              <a:rPr lang="en-US" sz="1350" dirty="0">
                <a:solidFill>
                  <a:srgbClr val="262626"/>
                </a:solidFill>
                <a:latin typeface="Calibri" pitchFamily="34" charset="0"/>
                <a:ea typeface="Calibri" pitchFamily="34" charset="-122"/>
                <a:cs typeface="Calibri" pitchFamily="34" charset="-120"/>
              </a:rPr>
              <a:t>For each theme we have selected an architecture and evaluation setup. Implementation and training begin this month.</a:t>
            </a:r>
            <a:endParaRPr lang="en-US" sz="13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731520"/>
                <a:gridCol w="2468880"/>
                <a:gridCol w="502920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Theme</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Selected approach</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Key idea</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r>
              <a:tr h="457200">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Transformer sequence encoder</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Time-gap positional encoding; self-attention over transaction history to flag deviations</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Prototypical networks</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Pre-trained behaviour embeddings; new risk types mapped to prototypes without full retraining</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457200">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Multimodal transformer</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Per-modality encoders with cross-modal attention; modality dropout simulates missing inputs</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VAE on learned embeddings</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Generative reconstruction as a regulariser, giving denser and more stable representations</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457200">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Imbalance-aware training</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Focal / cost-sensitive losses; AUROC and F1 as primary metrics</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4434840"/>
            <a:ext cx="8229600" cy="548640"/>
          </a:xfrm>
          <a:prstGeom prst="rect">
            <a:avLst/>
          </a:prstGeom>
          <a:noFill/>
          <a:ln/>
        </p:spPr>
        <p:txBody>
          <a:bodyPr wrap="square" lIns="0" tIns="0" rIns="0" bIns="0" rtlCol="0" anchor="ctr"/>
          <a:lstStyle/>
          <a:p>
            <a:pPr indent="0" marL="0">
              <a:buNone/>
            </a:pPr>
            <a:r>
              <a:rPr lang="en-US" sz="1100" i="1" dirty="0">
                <a:solidFill>
                  <a:srgbClr val="595959"/>
                </a:solidFill>
                <a:latin typeface="Calibri" pitchFamily="34" charset="0"/>
                <a:ea typeface="Calibri" pitchFamily="34" charset="-122"/>
                <a:cs typeface="Calibri" pitchFamily="34" charset="-120"/>
              </a:rPr>
              <a:t>Datasets: drawn from the shared pool on the datasets slide (PaySim and IEEE-CIS for fraud themes 1.1 / 1.2 / 1.5, credit datasets for 1.4, MIMIC-III multi-table data for 1.3). Baselines: LSTM (sequence tasks) and gradient-boosted trees (tabular tasks).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indent="0" marL="0">
              <a:buNone/>
            </a:pPr>
            <a:r>
              <a:rPr lang="en-US" sz="2400" b="1" dirty="0">
                <a:solidFill>
                  <a:srgbClr val="1F3864"/>
                </a:solidFill>
                <a:latin typeface="Calibri" pitchFamily="34" charset="0"/>
                <a:ea typeface="Calibri" pitchFamily="34" charset="-122"/>
                <a:cs typeface="Calibri" pitchFamily="34" charset="-120"/>
              </a:rPr>
              <a:t>Project 2: Foundation Models for Tabular &amp; Time-Series Data</a:t>
            </a:r>
            <a:endParaRPr lang="en-US" sz="2400" dirty="0"/>
          </a:p>
        </p:txBody>
      </p:sp>
      <p:sp>
        <p:nvSpPr>
          <p:cNvPr id="3" name="Text 1"/>
          <p:cNvSpPr/>
          <p:nvPr/>
        </p:nvSpPr>
        <p:spPr>
          <a:xfrm>
            <a:off x="457200" y="1005840"/>
            <a:ext cx="8229600" cy="640080"/>
          </a:xfrm>
          <a:prstGeom prst="rect">
            <a:avLst/>
          </a:prstGeom>
          <a:noFill/>
          <a:ln/>
        </p:spPr>
        <p:txBody>
          <a:bodyPr wrap="square" lIns="0" tIns="0" rIns="0" bIns="0" rtlCol="0" anchor="ctr"/>
          <a:lstStyle/>
          <a:p>
            <a:pPr indent="0" marL="0">
              <a:buNone/>
            </a:pPr>
            <a:r>
              <a:rPr lang="en-US" sz="1400" dirty="0">
                <a:solidFill>
                  <a:srgbClr val="262626"/>
                </a:solidFill>
                <a:latin typeface="Calibri" pitchFamily="34" charset="0"/>
                <a:ea typeface="Calibri" pitchFamily="34" charset="-122"/>
                <a:cs typeface="Calibri" pitchFamily="34" charset="-120"/>
              </a:rPr>
              <a:t>Motivation: pre-trained transformers reshaped NLP, but there is no general-purpose pre-trained model for structured financial data. Institutions still build task-specific models from scratch.</a:t>
            </a:r>
            <a:endParaRPr lang="en-US" sz="1400" dirty="0"/>
          </a:p>
        </p:txBody>
      </p:sp>
      <p:sp>
        <p:nvSpPr>
          <p:cNvPr id="4" name="Text 2"/>
          <p:cNvSpPr/>
          <p:nvPr/>
        </p:nvSpPr>
        <p:spPr>
          <a:xfrm>
            <a:off x="457200" y="1783080"/>
            <a:ext cx="8229600" cy="320040"/>
          </a:xfrm>
          <a:prstGeom prst="rect">
            <a:avLst/>
          </a:prstGeom>
          <a:noFill/>
          <a:ln/>
        </p:spPr>
        <p:txBody>
          <a:bodyPr wrap="square" lIns="0" tIns="0" rIns="0" bIns="0" rtlCol="0" anchor="ctr"/>
          <a:lstStyle/>
          <a:p>
            <a:pPr indent="0" marL="0">
              <a:buNone/>
            </a:pPr>
            <a:r>
              <a:rPr lang="en-US" sz="1400" b="1" dirty="0">
                <a:solidFill>
                  <a:srgbClr val="262626"/>
                </a:solidFill>
                <a:latin typeface="Calibri" pitchFamily="34" charset="0"/>
                <a:ea typeface="Calibri" pitchFamily="34" charset="-122"/>
                <a:cs typeface="Calibri" pitchFamily="34" charset="-120"/>
              </a:rPr>
              <a:t>Planned approach:</a:t>
            </a:r>
            <a:endParaRPr lang="en-US" sz="1400" dirty="0"/>
          </a:p>
        </p:txBody>
      </p:sp>
      <p:sp>
        <p:nvSpPr>
          <p:cNvPr id="5" name="Text 3"/>
          <p:cNvSpPr/>
          <p:nvPr/>
        </p:nvSpPr>
        <p:spPr>
          <a:xfrm>
            <a:off x="457200" y="2148840"/>
            <a:ext cx="8229600" cy="265176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262626"/>
                </a:solidFill>
                <a:latin typeface="Calibri" pitchFamily="34" charset="0"/>
                <a:ea typeface="Calibri" pitchFamily="34" charset="-122"/>
                <a:cs typeface="Calibri" pitchFamily="34" charset="-120"/>
              </a:rPr>
              <a:t>Masked-feature pre-training (BERT-style) on large transaction logs to learn reusable financial embeddings, then fine-tune on downstream tasks across industries</a:t>
            </a:r>
            <a:endParaRPr lang="en-US" sz="1350" dirty="0"/>
          </a:p>
          <a:p>
            <a:pPr marL="342900" indent="-342900">
              <a:spcAft>
                <a:spcPts val="800"/>
              </a:spcAft>
              <a:buSzPct val="100000"/>
              <a:buChar char="•"/>
            </a:pPr>
            <a:r>
              <a:rPr lang="en-US" sz="1350" dirty="0">
                <a:solidFill>
                  <a:srgbClr val="262626"/>
                </a:solidFill>
                <a:latin typeface="Calibri" pitchFamily="34" charset="0"/>
                <a:ea typeface="Calibri" pitchFamily="34" charset="-122"/>
                <a:cs typeface="Calibri" pitchFamily="34" charset="-120"/>
              </a:rPr>
              <a:t>Primary architecture: FT-Transformer, chosen because it tokenises both numeric and categorical features. SAINT kept as an alternative for fraud tasks (inter-sample attention). TabTransformer was reviewed and set aside since it embeds only categorical features</a:t>
            </a:r>
            <a:endParaRPr lang="en-US" sz="1350" dirty="0"/>
          </a:p>
          <a:p>
            <a:pPr marL="342900" indent="-342900">
              <a:spcAft>
                <a:spcPts val="800"/>
              </a:spcAft>
              <a:buSzPct val="100000"/>
              <a:buChar char="•"/>
            </a:pPr>
            <a:r>
              <a:rPr lang="en-US" sz="1350" dirty="0">
                <a:solidFill>
                  <a:srgbClr val="262626"/>
                </a:solidFill>
                <a:latin typeface="Calibri" pitchFamily="34" charset="0"/>
                <a:ea typeface="Calibri" pitchFamily="34" charset="-122"/>
                <a:cs typeface="Calibri" pitchFamily="34" charset="-120"/>
              </a:rPr>
              <a:t>Baselines: XGBoost, CatBoost and TabNet on every task</a:t>
            </a:r>
            <a:endParaRPr lang="en-US" sz="1350" dirty="0"/>
          </a:p>
          <a:p>
            <a:pPr marL="342900" indent="-342900">
              <a:spcAft>
                <a:spcPts val="800"/>
              </a:spcAft>
              <a:buSzPct val="100000"/>
              <a:buChar char="•"/>
            </a:pPr>
            <a:r>
              <a:rPr lang="en-US" sz="1350" dirty="0">
                <a:solidFill>
                  <a:srgbClr val="262626"/>
                </a:solidFill>
                <a:latin typeface="Calibri" pitchFamily="34" charset="0"/>
                <a:ea typeface="Calibri" pitchFamily="34" charset="-122"/>
                <a:cs typeface="Calibri" pitchFamily="34" charset="-120"/>
              </a:rPr>
              <a:t>Evaluation: AUROC and F1 for classification; Silhouette score for segmentation</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indent="0" marL="0">
              <a:buNone/>
            </a:pPr>
            <a:r>
              <a:rPr lang="en-US" sz="2400" b="1" dirty="0">
                <a:solidFill>
                  <a:srgbClr val="1F3864"/>
                </a:solidFill>
                <a:latin typeface="Calibri" pitchFamily="34" charset="0"/>
                <a:ea typeface="Calibri" pitchFamily="34" charset="-122"/>
                <a:cs typeface="Calibri" pitchFamily="34" charset="-120"/>
              </a:rPr>
              <a:t>Project 2: Modelling Approach</a:t>
            </a:r>
            <a:endParaRPr lang="en-US" sz="2400" dirty="0"/>
          </a:p>
        </p:txBody>
      </p:sp>
      <p:sp>
        <p:nvSpPr>
          <p:cNvPr id="3" name="Text 1"/>
          <p:cNvSpPr/>
          <p:nvPr/>
        </p:nvSpPr>
        <p:spPr>
          <a:xfrm>
            <a:off x="457200" y="960120"/>
            <a:ext cx="8229600" cy="457200"/>
          </a:xfrm>
          <a:prstGeom prst="rect">
            <a:avLst/>
          </a:prstGeom>
          <a:noFill/>
          <a:ln/>
        </p:spPr>
        <p:txBody>
          <a:bodyPr wrap="square" lIns="0" tIns="0" rIns="0" bIns="0" rtlCol="0" anchor="ctr"/>
          <a:lstStyle/>
          <a:p>
            <a:pPr indent="0" marL="0">
              <a:buNone/>
            </a:pPr>
            <a:r>
              <a:rPr lang="en-US" sz="1350" dirty="0">
                <a:solidFill>
                  <a:srgbClr val="262626"/>
                </a:solidFill>
                <a:latin typeface="Calibri" pitchFamily="34" charset="0"/>
                <a:ea typeface="Calibri" pitchFamily="34" charset="-122"/>
                <a:cs typeface="Calibri" pitchFamily="34" charset="-120"/>
              </a:rPr>
              <a:t>Each theme has a defined method and evaluation setup. Themes 2.1 and 2.2 are the first to be implemented; 2.4 is deliberately scheduled last.</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731520"/>
                <a:gridCol w="2468880"/>
                <a:gridCol w="502920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Theme</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Selected approach</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Key idea</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r>
              <a:tr h="475488">
                <a:tc>
                  <a:txBody>
                    <a:bodyPr/>
                    <a:lstStyle/>
                    <a:p>
                      <a:pPr indent="0" marL="0">
                        <a:buNone/>
                      </a:pPr>
                      <a:r>
                        <a:rPr lang="en-US" sz="1150" dirty="0">
                          <a:solidFill>
                            <a:srgbClr val="262626"/>
                          </a:solidFill>
                          <a:latin typeface="Calibri" pitchFamily="34" charset="0"/>
                          <a:ea typeface="Calibri" pitchFamily="34" charset="-122"/>
                          <a:cs typeface="Calibri" pitchFamily="34" charset="-120"/>
                        </a:rPr>
                        <a:t>2.1</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262626"/>
                          </a:solidFill>
                          <a:latin typeface="Calibri" pitchFamily="34" charset="0"/>
                          <a:ea typeface="Calibri" pitchFamily="34" charset="-122"/>
                          <a:cs typeface="Calibri" pitchFamily="34" charset="-120"/>
                        </a:rPr>
                        <a:t>FT-Transformer on transaction logs</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262626"/>
                          </a:solidFill>
                          <a:latin typeface="Calibri" pitchFamily="34" charset="0"/>
                          <a:ea typeface="Calibri" pitchFamily="34" charset="-122"/>
                          <a:cs typeface="Calibri" pitchFamily="34" charset="-120"/>
                        </a:rPr>
                        <a:t>Transactions as ordered token sequences with temporal positional encoding; capture long-range and periodic behaviour</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262626"/>
                          </a:solidFill>
                          <a:latin typeface="Calibri" pitchFamily="34" charset="0"/>
                          <a:ea typeface="Calibri" pitchFamily="34" charset="-122"/>
                          <a:cs typeface="Calibri" pitchFamily="34" charset="-120"/>
                        </a:rPr>
                        <a:t>2.2</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50" dirty="0">
                          <a:solidFill>
                            <a:srgbClr val="262626"/>
                          </a:solidFill>
                          <a:latin typeface="Calibri" pitchFamily="34" charset="0"/>
                          <a:ea typeface="Calibri" pitchFamily="34" charset="-122"/>
                          <a:cs typeface="Calibri" pitchFamily="34" charset="-120"/>
                        </a:rPr>
                        <a:t>Masked-feature pre-training</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50" dirty="0">
                          <a:solidFill>
                            <a:srgbClr val="262626"/>
                          </a:solidFill>
                          <a:latin typeface="Calibri" pitchFamily="34" charset="0"/>
                          <a:ea typeface="Calibri" pitchFamily="34" charset="-122"/>
                          <a:cs typeface="Calibri" pitchFamily="34" charset="-120"/>
                        </a:rPr>
                        <a:t>BERT-style self-supervised objective on unlabeled data; reusable embedding layer, fine-tuned on downstream tasks</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475488">
                <a:tc>
                  <a:txBody>
                    <a:bodyPr/>
                    <a:lstStyle/>
                    <a:p>
                      <a:pPr indent="0" marL="0">
                        <a:buNone/>
                      </a:pPr>
                      <a:r>
                        <a:rPr lang="en-US" sz="1150" dirty="0">
                          <a:solidFill>
                            <a:srgbClr val="262626"/>
                          </a:solidFill>
                          <a:latin typeface="Calibri" pitchFamily="34" charset="0"/>
                          <a:ea typeface="Calibri" pitchFamily="34" charset="-122"/>
                          <a:cs typeface="Calibri" pitchFamily="34" charset="-120"/>
                        </a:rPr>
                        <a:t>2.3</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262626"/>
                          </a:solidFill>
                          <a:latin typeface="Calibri" pitchFamily="34" charset="0"/>
                          <a:ea typeface="Calibri" pitchFamily="34" charset="-122"/>
                          <a:cs typeface="Calibri" pitchFamily="34" charset="-120"/>
                        </a:rPr>
                        <a:t>Cross-industry shared encoder</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262626"/>
                          </a:solidFill>
                          <a:latin typeface="Calibri" pitchFamily="34" charset="0"/>
                          <a:ea typeface="Calibri" pitchFamily="34" charset="-122"/>
                          <a:cs typeface="Calibri" pitchFamily="34" charset="-120"/>
                        </a:rPr>
                        <a:t>One encoder over credit, retail and healthcare data with lightweight task heads; schema alignment is the core challenge</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262626"/>
                          </a:solidFill>
                          <a:latin typeface="Calibri" pitchFamily="34" charset="0"/>
                          <a:ea typeface="Calibri" pitchFamily="34" charset="-122"/>
                          <a:cs typeface="Calibri" pitchFamily="34" charset="-120"/>
                        </a:rPr>
                        <a:t>2.4</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50" dirty="0">
                          <a:solidFill>
                            <a:srgbClr val="262626"/>
                          </a:solidFill>
                          <a:latin typeface="Calibri" pitchFamily="34" charset="0"/>
                          <a:ea typeface="Calibri" pitchFamily="34" charset="-122"/>
                          <a:cs typeface="Calibri" pitchFamily="34" charset="-120"/>
                        </a:rPr>
                        <a:t>Multimodal fusion (later phase)</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50" dirty="0">
                          <a:solidFill>
                            <a:srgbClr val="262626"/>
                          </a:solidFill>
                          <a:latin typeface="Calibri" pitchFamily="34" charset="0"/>
                          <a:ea typeface="Calibri" pitchFamily="34" charset="-122"/>
                          <a:cs typeface="Calibri" pitchFamily="34" charset="-120"/>
                        </a:rPr>
                        <a:t>Cross-modal attention joining the transaction encoder with a text encoder (SEC EDGAR filings / FinQA)</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475488">
                <a:tc>
                  <a:txBody>
                    <a:bodyPr/>
                    <a:lstStyle/>
                    <a:p>
                      <a:pPr indent="0" marL="0">
                        <a:buNone/>
                      </a:pPr>
                      <a:r>
                        <a:rPr lang="en-US" sz="1150" dirty="0">
                          <a:solidFill>
                            <a:srgbClr val="262626"/>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262626"/>
                          </a:solidFill>
                          <a:latin typeface="Calibri" pitchFamily="34" charset="0"/>
                          <a:ea typeface="Calibri" pitchFamily="34" charset="-122"/>
                          <a:cs typeface="Calibri" pitchFamily="34" charset="-120"/>
                        </a:rPr>
                        <a:t>Segmentation on embeddings</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262626"/>
                          </a:solidFill>
                          <a:latin typeface="Calibri" pitchFamily="34" charset="0"/>
                          <a:ea typeface="Calibri" pitchFamily="34" charset="-122"/>
                          <a:cs typeface="Calibri" pitchFamily="34" charset="-120"/>
                        </a:rPr>
                        <a:t>k-means / HDBSCAN clustering of learned representations; Silhouette and Davies-Bouldin evaluation</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4553712"/>
            <a:ext cx="8229600" cy="457200"/>
          </a:xfrm>
          <a:prstGeom prst="rect">
            <a:avLst/>
          </a:prstGeom>
          <a:noFill/>
          <a:ln/>
        </p:spPr>
        <p:txBody>
          <a:bodyPr wrap="square" lIns="0" tIns="0" rIns="0" bIns="0" rtlCol="0" anchor="ctr"/>
          <a:lstStyle/>
          <a:p>
            <a:pPr indent="0" marL="0">
              <a:buNone/>
            </a:pPr>
            <a:r>
              <a:rPr lang="en-US" sz="1100" i="1" dirty="0">
                <a:solidFill>
                  <a:srgbClr val="595959"/>
                </a:solidFill>
                <a:latin typeface="Calibri" pitchFamily="34" charset="0"/>
                <a:ea typeface="Calibri" pitchFamily="34" charset="-122"/>
                <a:cs typeface="Calibri" pitchFamily="34" charset="-120"/>
              </a:rPr>
              <a:t>Key hypothesis: pre-trained embeddings (2.2) outperform randomly initialised models when fine-tuned on small datasets such as UCI Credit Default.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indent="0" marL="0">
              <a:buNone/>
            </a:pPr>
            <a:r>
              <a:rPr lang="en-US" sz="2400" b="1" dirty="0">
                <a:solidFill>
                  <a:srgbClr val="1F3864"/>
                </a:solidFill>
                <a:latin typeface="Calibri" pitchFamily="34" charset="0"/>
                <a:ea typeface="Calibri" pitchFamily="34" charset="-122"/>
                <a:cs typeface="Calibri" pitchFamily="34" charset="-120"/>
              </a:rPr>
              <a:t>Datasets (shared across both projects) and Pre-processing</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194560"/>
                <a:gridCol w="1005840"/>
                <a:gridCol w="1920240"/>
                <a:gridCol w="310896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Dataset</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Scale</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Used for (themes)</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Purpose</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r>
              <a:tr h="384048">
                <a:tc>
                  <a:txBody>
                    <a:bodyPr/>
                    <a:lstStyle/>
                    <a:p>
                      <a:pPr indent="0" marL="0">
                        <a:buNone/>
                      </a:pPr>
                      <a:r>
                        <a:rPr lang="en-US" sz="1100" dirty="0">
                          <a:solidFill>
                            <a:srgbClr val="262626"/>
                          </a:solidFill>
                          <a:latin typeface="Calibri" pitchFamily="34" charset="0"/>
                          <a:ea typeface="Calibri" pitchFamily="34" charset="-122"/>
                          <a:cs typeface="Calibri" pitchFamily="34" charset="-120"/>
                        </a:rPr>
                        <a:t>PaySim Synthetic Financial</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262626"/>
                          </a:solidFill>
                          <a:latin typeface="Calibri" pitchFamily="34" charset="0"/>
                          <a:ea typeface="Calibri" pitchFamily="34" charset="-122"/>
                          <a:cs typeface="Calibri" pitchFamily="34" charset="-120"/>
                        </a:rPr>
                        <a:t>6.3M rows</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262626"/>
                          </a:solidFill>
                          <a:latin typeface="Calibri" pitchFamily="34" charset="0"/>
                          <a:ea typeface="Calibri" pitchFamily="34" charset="-122"/>
                          <a:cs typeface="Calibri" pitchFamily="34" charset="-120"/>
                        </a:rPr>
                        <a:t>P1: 1.1, 1.5 / P2: 2.1, 2.2</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262626"/>
                          </a:solidFill>
                          <a:latin typeface="Calibri" pitchFamily="34" charset="0"/>
                          <a:ea typeface="Calibri" pitchFamily="34" charset="-122"/>
                          <a:cs typeface="Calibri" pitchFamily="34" charset="-120"/>
                        </a:rPr>
                        <a:t>Fraud detection and sequence modelling</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262626"/>
                          </a:solidFill>
                          <a:latin typeface="Calibri" pitchFamily="34" charset="0"/>
                          <a:ea typeface="Calibri" pitchFamily="34" charset="-122"/>
                          <a:cs typeface="Calibri" pitchFamily="34" charset="-120"/>
                        </a:rPr>
                        <a:t>IEEE-CIS Fraud Detection</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00" dirty="0">
                          <a:solidFill>
                            <a:srgbClr val="262626"/>
                          </a:solidFill>
                          <a:latin typeface="Calibri" pitchFamily="34" charset="0"/>
                          <a:ea typeface="Calibri" pitchFamily="34" charset="-122"/>
                          <a:cs typeface="Calibri" pitchFamily="34" charset="-120"/>
                        </a:rPr>
                        <a:t>~590K rows</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00" dirty="0">
                          <a:solidFill>
                            <a:srgbClr val="262626"/>
                          </a:solidFill>
                          <a:latin typeface="Calibri" pitchFamily="34" charset="0"/>
                          <a:ea typeface="Calibri" pitchFamily="34" charset="-122"/>
                          <a:cs typeface="Calibri" pitchFamily="34" charset="-120"/>
                        </a:rPr>
                        <a:t>P1: 1.2, 1.5 / P2: 2.2</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00" dirty="0">
                          <a:solidFill>
                            <a:srgbClr val="262626"/>
                          </a:solidFill>
                          <a:latin typeface="Calibri" pitchFamily="34" charset="0"/>
                          <a:ea typeface="Calibri" pitchFamily="34" charset="-122"/>
                          <a:cs typeface="Calibri" pitchFamily="34" charset="-120"/>
                        </a:rPr>
                        <a:t>Representation pre-training; new fraud types</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384048">
                <a:tc>
                  <a:txBody>
                    <a:bodyPr/>
                    <a:lstStyle/>
                    <a:p>
                      <a:pPr indent="0" marL="0">
                        <a:buNone/>
                      </a:pPr>
                      <a:r>
                        <a:rPr lang="en-US" sz="1100" dirty="0">
                          <a:solidFill>
                            <a:srgbClr val="262626"/>
                          </a:solidFill>
                          <a:latin typeface="Calibri" pitchFamily="34" charset="0"/>
                          <a:ea typeface="Calibri" pitchFamily="34" charset="-122"/>
                          <a:cs typeface="Calibri" pitchFamily="34" charset="-120"/>
                        </a:rPr>
                        <a:t>Lending Club Loans</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262626"/>
                          </a:solidFill>
                          <a:latin typeface="Calibri" pitchFamily="34" charset="0"/>
                          <a:ea typeface="Calibri" pitchFamily="34" charset="-122"/>
                          <a:cs typeface="Calibri" pitchFamily="34" charset="-120"/>
                        </a:rPr>
                        <a:t>~2.2M rows</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262626"/>
                          </a:solidFill>
                          <a:latin typeface="Calibri" pitchFamily="34" charset="0"/>
                          <a:ea typeface="Calibri" pitchFamily="34" charset="-122"/>
                          <a:cs typeface="Calibri" pitchFamily="34" charset="-120"/>
                        </a:rPr>
                        <a:t>P1: 1.4 / P2: 2.3</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262626"/>
                          </a:solidFill>
                          <a:latin typeface="Calibri" pitchFamily="34" charset="0"/>
                          <a:ea typeface="Calibri" pitchFamily="34" charset="-122"/>
                          <a:cs typeface="Calibri" pitchFamily="34" charset="-120"/>
                        </a:rPr>
                        <a:t>Credit modelling; sparse-history reconstruction</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262626"/>
                          </a:solidFill>
                          <a:latin typeface="Calibri" pitchFamily="34" charset="0"/>
                          <a:ea typeface="Calibri" pitchFamily="34" charset="-122"/>
                          <a:cs typeface="Calibri" pitchFamily="34" charset="-120"/>
                        </a:rPr>
                        <a:t>UCI Credit Card Default</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00" dirty="0">
                          <a:solidFill>
                            <a:srgbClr val="262626"/>
                          </a:solidFill>
                          <a:latin typeface="Calibri" pitchFamily="34" charset="0"/>
                          <a:ea typeface="Calibri" pitchFamily="34" charset="-122"/>
                          <a:cs typeface="Calibri" pitchFamily="34" charset="-120"/>
                        </a:rPr>
                        <a:t>30K rows</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00" dirty="0">
                          <a:solidFill>
                            <a:srgbClr val="262626"/>
                          </a:solidFill>
                          <a:latin typeface="Calibri" pitchFamily="34" charset="0"/>
                          <a:ea typeface="Calibri" pitchFamily="34" charset="-122"/>
                          <a:cs typeface="Calibri" pitchFamily="34" charset="-120"/>
                        </a:rPr>
                        <a:t>P1: 1.5 / P2: 2.2</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00" dirty="0">
                          <a:solidFill>
                            <a:srgbClr val="262626"/>
                          </a:solidFill>
                          <a:latin typeface="Calibri" pitchFamily="34" charset="0"/>
                          <a:ea typeface="Calibri" pitchFamily="34" charset="-122"/>
                          <a:cs typeface="Calibri" pitchFamily="34" charset="-120"/>
                        </a:rPr>
                        <a:t>Fine-tuning benchmark</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384048">
                <a:tc>
                  <a:txBody>
                    <a:bodyPr/>
                    <a:lstStyle/>
                    <a:p>
                      <a:pPr indent="0" marL="0">
                        <a:buNone/>
                      </a:pPr>
                      <a:r>
                        <a:rPr lang="en-US" sz="1100" dirty="0">
                          <a:solidFill>
                            <a:srgbClr val="262626"/>
                          </a:solidFill>
                          <a:latin typeface="Calibri" pitchFamily="34" charset="0"/>
                          <a:ea typeface="Calibri" pitchFamily="34" charset="-122"/>
                          <a:cs typeface="Calibri" pitchFamily="34" charset="-120"/>
                        </a:rPr>
                        <a:t>UCI Online Retail II</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262626"/>
                          </a:solidFill>
                          <a:latin typeface="Calibri" pitchFamily="34" charset="0"/>
                          <a:ea typeface="Calibri" pitchFamily="34" charset="-122"/>
                          <a:cs typeface="Calibri" pitchFamily="34" charset="-120"/>
                        </a:rPr>
                        <a:t>1M+ rows</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262626"/>
                          </a:solidFill>
                          <a:latin typeface="Calibri" pitchFamily="34" charset="0"/>
                          <a:ea typeface="Calibri" pitchFamily="34" charset="-122"/>
                          <a:cs typeface="Calibri" pitchFamily="34" charset="-120"/>
                        </a:rPr>
                        <a:t>P2: 2.5</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262626"/>
                          </a:solidFill>
                          <a:latin typeface="Calibri" pitchFamily="34" charset="0"/>
                          <a:ea typeface="Calibri" pitchFamily="34" charset="-122"/>
                          <a:cs typeface="Calibri" pitchFamily="34" charset="-120"/>
                        </a:rPr>
                        <a:t>Customer segmentation</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262626"/>
                          </a:solidFill>
                          <a:latin typeface="Calibri" pitchFamily="34" charset="0"/>
                          <a:ea typeface="Calibri" pitchFamily="34" charset="-122"/>
                          <a:cs typeface="Calibri" pitchFamily="34" charset="-120"/>
                        </a:rPr>
                        <a:t>MIMIC-III (Healthcare ICU)</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00" dirty="0">
                          <a:solidFill>
                            <a:srgbClr val="262626"/>
                          </a:solidFill>
                          <a:latin typeface="Calibri" pitchFamily="34" charset="0"/>
                          <a:ea typeface="Calibri" pitchFamily="34" charset="-122"/>
                          <a:cs typeface="Calibri" pitchFamily="34" charset="-120"/>
                        </a:rPr>
                        <a:t>Multi-table</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00" dirty="0">
                          <a:solidFill>
                            <a:srgbClr val="262626"/>
                          </a:solidFill>
                          <a:latin typeface="Calibri" pitchFamily="34" charset="0"/>
                          <a:ea typeface="Calibri" pitchFamily="34" charset="-122"/>
                          <a:cs typeface="Calibri" pitchFamily="34" charset="-120"/>
                        </a:rPr>
                        <a:t>P1: 1.3 / P2: 2.3</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00" dirty="0">
                          <a:solidFill>
                            <a:srgbClr val="262626"/>
                          </a:solidFill>
                          <a:latin typeface="Calibri" pitchFamily="34" charset="0"/>
                          <a:ea typeface="Calibri" pitchFamily="34" charset="-122"/>
                          <a:cs typeface="Calibri" pitchFamily="34" charset="-120"/>
                        </a:rPr>
                        <a:t>Cross-domain validation (credentialing in progress)</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bl>
          </a:graphicData>
        </a:graphic>
      </p:graphicFrame>
      <p:sp>
        <p:nvSpPr>
          <p:cNvPr id="4" name="Text 1"/>
          <p:cNvSpPr/>
          <p:nvPr/>
        </p:nvSpPr>
        <p:spPr>
          <a:xfrm>
            <a:off x="457200" y="3977640"/>
            <a:ext cx="8229600" cy="320040"/>
          </a:xfrm>
          <a:prstGeom prst="rect">
            <a:avLst/>
          </a:prstGeom>
          <a:noFill/>
          <a:ln/>
        </p:spPr>
        <p:txBody>
          <a:bodyPr wrap="square" lIns="0" tIns="0" rIns="0" bIns="0" rtlCol="0" anchor="ctr"/>
          <a:lstStyle/>
          <a:p>
            <a:pPr indent="0" marL="0">
              <a:buNone/>
            </a:pPr>
            <a:r>
              <a:rPr lang="en-US" sz="1300" b="1" dirty="0">
                <a:solidFill>
                  <a:srgbClr val="262626"/>
                </a:solidFill>
                <a:latin typeface="Calibri" pitchFamily="34" charset="0"/>
                <a:ea typeface="Calibri" pitchFamily="34" charset="-122"/>
                <a:cs typeface="Calibri" pitchFamily="34" charset="-120"/>
              </a:rPr>
              <a:t>Pre-processing pipeline (specified, first implementation deliverable):</a:t>
            </a:r>
            <a:endParaRPr lang="en-US" sz="1300" dirty="0"/>
          </a:p>
        </p:txBody>
      </p:sp>
      <p:sp>
        <p:nvSpPr>
          <p:cNvPr id="5" name="Text 2"/>
          <p:cNvSpPr/>
          <p:nvPr/>
        </p:nvSpPr>
        <p:spPr>
          <a:xfrm>
            <a:off x="457200" y="4315968"/>
            <a:ext cx="8229600" cy="320040"/>
          </a:xfrm>
          <a:prstGeom prst="rect">
            <a:avLst/>
          </a:prstGeom>
          <a:noFill/>
          <a:ln/>
        </p:spPr>
        <p:txBody>
          <a:bodyPr wrap="square" lIns="0" tIns="0" rIns="0" bIns="0" rtlCol="0" anchor="ctr"/>
          <a:lstStyle/>
          <a:p>
            <a:pPr indent="0" marL="0">
              <a:buNone/>
            </a:pPr>
            <a:r>
              <a:rPr lang="en-US" sz="1300" dirty="0">
                <a:solidFill>
                  <a:srgbClr val="262626"/>
                </a:solidFill>
                <a:latin typeface="Calibri" pitchFamily="34" charset="0"/>
                <a:ea typeface="Calibri" pitchFamily="34" charset="-122"/>
                <a:cs typeface="Calibri" pitchFamily="34" charset="-120"/>
              </a:rPr>
              <a:t>Transaction tokenisation  →  missing-value handling  →  temporal feature extraction  →  normalisation</a:t>
            </a:r>
            <a:endParaRPr lang="en-US" sz="1300" dirty="0"/>
          </a:p>
        </p:txBody>
      </p:sp>
      <p:sp>
        <p:nvSpPr>
          <p:cNvPr id="6" name="Text 3"/>
          <p:cNvSpPr/>
          <p:nvPr/>
        </p:nvSpPr>
        <p:spPr>
          <a:xfrm>
            <a:off x="457200" y="4681728"/>
            <a:ext cx="8229600" cy="320040"/>
          </a:xfrm>
          <a:prstGeom prst="rect">
            <a:avLst/>
          </a:prstGeom>
          <a:noFill/>
          <a:ln/>
        </p:spPr>
        <p:txBody>
          <a:bodyPr wrap="square" lIns="0" tIns="0" rIns="0" bIns="0" rtlCol="0" anchor="ctr"/>
          <a:lstStyle/>
          <a:p>
            <a:pPr indent="0" marL="0">
              <a:buNone/>
            </a:pPr>
            <a:r>
              <a:rPr lang="en-US" sz="1050" i="1" dirty="0">
                <a:solidFill>
                  <a:srgbClr val="595959"/>
                </a:solidFill>
                <a:latin typeface="Calibri" pitchFamily="34" charset="0"/>
                <a:ea typeface="Calibri" pitchFamily="34" charset="-122"/>
                <a:cs typeface="Calibri" pitchFamily="34" charset="-120"/>
              </a:rPr>
              <a:t>Text sources for multimodal fusion (theme 2.4), e.g. SEC EDGAR filings / FinQA, will be added in a later phase once the transaction encoder is stable.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indent="0" marL="0">
              <a:buNone/>
            </a:pPr>
            <a:r>
              <a:rPr lang="en-US" sz="2400" b="1" dirty="0">
                <a:solidFill>
                  <a:srgbClr val="1F3864"/>
                </a:solidFill>
                <a:latin typeface="Calibri" pitchFamily="34" charset="0"/>
                <a:ea typeface="Calibri" pitchFamily="34" charset="-122"/>
                <a:cs typeface="Calibri" pitchFamily="34" charset="-120"/>
              </a:rPr>
              <a:t>Project Timeline (both projects, 1 May 2026 start)</a:t>
            </a:r>
            <a:endParaRPr lang="en-US" sz="2400" dirty="0"/>
          </a:p>
        </p:txBody>
      </p:sp>
      <p:sp>
        <p:nvSpPr>
          <p:cNvPr id="3" name="Text 1"/>
          <p:cNvSpPr/>
          <p:nvPr/>
        </p:nvSpPr>
        <p:spPr>
          <a:xfrm>
            <a:off x="2743200" y="1133856"/>
            <a:ext cx="742950" cy="219456"/>
          </a:xfrm>
          <a:prstGeom prst="rect">
            <a:avLst/>
          </a:prstGeom>
          <a:noFill/>
          <a:ln/>
        </p:spPr>
        <p:txBody>
          <a:bodyPr wrap="square" lIns="0" tIns="0" rIns="0" bIns="0" rtlCol="0" anchor="ctr"/>
          <a:lstStyle/>
          <a:p>
            <a:pPr algn="ctr" indent="0" marL="0">
              <a:buNone/>
            </a:pPr>
            <a:r>
              <a:rPr lang="en-US" sz="950" dirty="0">
                <a:solidFill>
                  <a:srgbClr val="595959"/>
                </a:solidFill>
                <a:latin typeface="Calibri" pitchFamily="34" charset="0"/>
                <a:ea typeface="Calibri" pitchFamily="34" charset="-122"/>
                <a:cs typeface="Calibri" pitchFamily="34" charset="-120"/>
              </a:rPr>
              <a:t>May '26</a:t>
            </a:r>
            <a:endParaRPr lang="en-US" sz="950" dirty="0"/>
          </a:p>
        </p:txBody>
      </p:sp>
      <p:sp>
        <p:nvSpPr>
          <p:cNvPr id="4" name="Text 2"/>
          <p:cNvSpPr/>
          <p:nvPr/>
        </p:nvSpPr>
        <p:spPr>
          <a:xfrm>
            <a:off x="3486150" y="1133856"/>
            <a:ext cx="742950" cy="219456"/>
          </a:xfrm>
          <a:prstGeom prst="rect">
            <a:avLst/>
          </a:prstGeom>
          <a:noFill/>
          <a:ln/>
        </p:spPr>
        <p:txBody>
          <a:bodyPr wrap="square" lIns="0" tIns="0" rIns="0" bIns="0" rtlCol="0" anchor="ctr"/>
          <a:lstStyle/>
          <a:p>
            <a:pPr algn="ctr" indent="0" marL="0">
              <a:buNone/>
            </a:pPr>
            <a:r>
              <a:rPr lang="en-US" sz="950" dirty="0">
                <a:solidFill>
                  <a:srgbClr val="595959"/>
                </a:solidFill>
                <a:latin typeface="Calibri" pitchFamily="34" charset="0"/>
                <a:ea typeface="Calibri" pitchFamily="34" charset="-122"/>
                <a:cs typeface="Calibri" pitchFamily="34" charset="-120"/>
              </a:rPr>
              <a:t>Jun '26</a:t>
            </a:r>
            <a:endParaRPr lang="en-US" sz="950" dirty="0"/>
          </a:p>
        </p:txBody>
      </p:sp>
      <p:sp>
        <p:nvSpPr>
          <p:cNvPr id="5" name="Text 3"/>
          <p:cNvSpPr/>
          <p:nvPr/>
        </p:nvSpPr>
        <p:spPr>
          <a:xfrm>
            <a:off x="4229100" y="1133856"/>
            <a:ext cx="742950" cy="219456"/>
          </a:xfrm>
          <a:prstGeom prst="rect">
            <a:avLst/>
          </a:prstGeom>
          <a:noFill/>
          <a:ln/>
        </p:spPr>
        <p:txBody>
          <a:bodyPr wrap="square" lIns="0" tIns="0" rIns="0" bIns="0" rtlCol="0" anchor="ctr"/>
          <a:lstStyle/>
          <a:p>
            <a:pPr algn="ctr" indent="0" marL="0">
              <a:buNone/>
            </a:pPr>
            <a:r>
              <a:rPr lang="en-US" sz="950" dirty="0">
                <a:solidFill>
                  <a:srgbClr val="595959"/>
                </a:solidFill>
                <a:latin typeface="Calibri" pitchFamily="34" charset="0"/>
                <a:ea typeface="Calibri" pitchFamily="34" charset="-122"/>
                <a:cs typeface="Calibri" pitchFamily="34" charset="-120"/>
              </a:rPr>
              <a:t>Jul '26</a:t>
            </a:r>
            <a:endParaRPr lang="en-US" sz="950" dirty="0"/>
          </a:p>
        </p:txBody>
      </p:sp>
      <p:sp>
        <p:nvSpPr>
          <p:cNvPr id="6" name="Text 4"/>
          <p:cNvSpPr/>
          <p:nvPr/>
        </p:nvSpPr>
        <p:spPr>
          <a:xfrm>
            <a:off x="4972050" y="1133856"/>
            <a:ext cx="742950" cy="219456"/>
          </a:xfrm>
          <a:prstGeom prst="rect">
            <a:avLst/>
          </a:prstGeom>
          <a:noFill/>
          <a:ln/>
        </p:spPr>
        <p:txBody>
          <a:bodyPr wrap="square" lIns="0" tIns="0" rIns="0" bIns="0" rtlCol="0" anchor="ctr"/>
          <a:lstStyle/>
          <a:p>
            <a:pPr algn="ctr" indent="0" marL="0">
              <a:buNone/>
            </a:pPr>
            <a:r>
              <a:rPr lang="en-US" sz="950" dirty="0">
                <a:solidFill>
                  <a:srgbClr val="595959"/>
                </a:solidFill>
                <a:latin typeface="Calibri" pitchFamily="34" charset="0"/>
                <a:ea typeface="Calibri" pitchFamily="34" charset="-122"/>
                <a:cs typeface="Calibri" pitchFamily="34" charset="-120"/>
              </a:rPr>
              <a:t>Aug '26</a:t>
            </a:r>
            <a:endParaRPr lang="en-US" sz="950" dirty="0"/>
          </a:p>
        </p:txBody>
      </p:sp>
      <p:sp>
        <p:nvSpPr>
          <p:cNvPr id="7" name="Text 5"/>
          <p:cNvSpPr/>
          <p:nvPr/>
        </p:nvSpPr>
        <p:spPr>
          <a:xfrm>
            <a:off x="5715000" y="1133856"/>
            <a:ext cx="742950" cy="219456"/>
          </a:xfrm>
          <a:prstGeom prst="rect">
            <a:avLst/>
          </a:prstGeom>
          <a:noFill/>
          <a:ln/>
        </p:spPr>
        <p:txBody>
          <a:bodyPr wrap="square" lIns="0" tIns="0" rIns="0" bIns="0" rtlCol="0" anchor="ctr"/>
          <a:lstStyle/>
          <a:p>
            <a:pPr algn="ctr" indent="0" marL="0">
              <a:buNone/>
            </a:pPr>
            <a:r>
              <a:rPr lang="en-US" sz="950" dirty="0">
                <a:solidFill>
                  <a:srgbClr val="595959"/>
                </a:solidFill>
                <a:latin typeface="Calibri" pitchFamily="34" charset="0"/>
                <a:ea typeface="Calibri" pitchFamily="34" charset="-122"/>
                <a:cs typeface="Calibri" pitchFamily="34" charset="-120"/>
              </a:rPr>
              <a:t>Sep '26</a:t>
            </a:r>
            <a:endParaRPr lang="en-US" sz="950" dirty="0"/>
          </a:p>
        </p:txBody>
      </p:sp>
      <p:sp>
        <p:nvSpPr>
          <p:cNvPr id="8" name="Text 6"/>
          <p:cNvSpPr/>
          <p:nvPr/>
        </p:nvSpPr>
        <p:spPr>
          <a:xfrm>
            <a:off x="6457950" y="1133856"/>
            <a:ext cx="742950" cy="219456"/>
          </a:xfrm>
          <a:prstGeom prst="rect">
            <a:avLst/>
          </a:prstGeom>
          <a:noFill/>
          <a:ln/>
        </p:spPr>
        <p:txBody>
          <a:bodyPr wrap="square" lIns="0" tIns="0" rIns="0" bIns="0" rtlCol="0" anchor="ctr"/>
          <a:lstStyle/>
          <a:p>
            <a:pPr algn="ctr" indent="0" marL="0">
              <a:buNone/>
            </a:pPr>
            <a:r>
              <a:rPr lang="en-US" sz="950" dirty="0">
                <a:solidFill>
                  <a:srgbClr val="595959"/>
                </a:solidFill>
                <a:latin typeface="Calibri" pitchFamily="34" charset="0"/>
                <a:ea typeface="Calibri" pitchFamily="34" charset="-122"/>
                <a:cs typeface="Calibri" pitchFamily="34" charset="-120"/>
              </a:rPr>
              <a:t>Oct '26</a:t>
            </a:r>
            <a:endParaRPr lang="en-US" sz="950" dirty="0"/>
          </a:p>
        </p:txBody>
      </p:sp>
      <p:sp>
        <p:nvSpPr>
          <p:cNvPr id="9" name="Text 7"/>
          <p:cNvSpPr/>
          <p:nvPr/>
        </p:nvSpPr>
        <p:spPr>
          <a:xfrm>
            <a:off x="7200900" y="1133856"/>
            <a:ext cx="742950" cy="219456"/>
          </a:xfrm>
          <a:prstGeom prst="rect">
            <a:avLst/>
          </a:prstGeom>
          <a:noFill/>
          <a:ln/>
        </p:spPr>
        <p:txBody>
          <a:bodyPr wrap="square" lIns="0" tIns="0" rIns="0" bIns="0" rtlCol="0" anchor="ctr"/>
          <a:lstStyle/>
          <a:p>
            <a:pPr algn="ctr" indent="0" marL="0">
              <a:buNone/>
            </a:pPr>
            <a:r>
              <a:rPr lang="en-US" sz="950" dirty="0">
                <a:solidFill>
                  <a:srgbClr val="595959"/>
                </a:solidFill>
                <a:latin typeface="Calibri" pitchFamily="34" charset="0"/>
                <a:ea typeface="Calibri" pitchFamily="34" charset="-122"/>
                <a:cs typeface="Calibri" pitchFamily="34" charset="-120"/>
              </a:rPr>
              <a:t>Nov '26</a:t>
            </a:r>
            <a:endParaRPr lang="en-US" sz="950" dirty="0"/>
          </a:p>
        </p:txBody>
      </p:sp>
      <p:sp>
        <p:nvSpPr>
          <p:cNvPr id="10" name="Text 8"/>
          <p:cNvSpPr/>
          <p:nvPr/>
        </p:nvSpPr>
        <p:spPr>
          <a:xfrm>
            <a:off x="7943850" y="1133856"/>
            <a:ext cx="742950" cy="219456"/>
          </a:xfrm>
          <a:prstGeom prst="rect">
            <a:avLst/>
          </a:prstGeom>
          <a:noFill/>
          <a:ln/>
        </p:spPr>
        <p:txBody>
          <a:bodyPr wrap="square" lIns="0" tIns="0" rIns="0" bIns="0" rtlCol="0" anchor="ctr"/>
          <a:lstStyle/>
          <a:p>
            <a:pPr algn="ctr" indent="0" marL="0">
              <a:buNone/>
            </a:pPr>
            <a:r>
              <a:rPr lang="en-US" sz="950" dirty="0">
                <a:solidFill>
                  <a:srgbClr val="595959"/>
                </a:solidFill>
                <a:latin typeface="Calibri" pitchFamily="34" charset="0"/>
                <a:ea typeface="Calibri" pitchFamily="34" charset="-122"/>
                <a:cs typeface="Calibri" pitchFamily="34" charset="-120"/>
              </a:rPr>
              <a:t>Dec '26</a:t>
            </a:r>
            <a:endParaRPr lang="en-US" sz="950" dirty="0"/>
          </a:p>
        </p:txBody>
      </p:sp>
      <p:sp>
        <p:nvSpPr>
          <p:cNvPr id="11" name="Shape 9"/>
          <p:cNvSpPr/>
          <p:nvPr/>
        </p:nvSpPr>
        <p:spPr>
          <a:xfrm>
            <a:off x="2743200" y="1371600"/>
            <a:ext cx="0" cy="2880360"/>
          </a:xfrm>
          <a:prstGeom prst="line">
            <a:avLst/>
          </a:prstGeom>
          <a:noFill/>
          <a:ln w="9525">
            <a:solidFill>
              <a:srgbClr val="D9D9D9"/>
            </a:solidFill>
            <a:prstDash val="solid"/>
          </a:ln>
        </p:spPr>
      </p:sp>
      <p:sp>
        <p:nvSpPr>
          <p:cNvPr id="12" name="Shape 10"/>
          <p:cNvSpPr/>
          <p:nvPr/>
        </p:nvSpPr>
        <p:spPr>
          <a:xfrm>
            <a:off x="3486150" y="1371600"/>
            <a:ext cx="0" cy="2880360"/>
          </a:xfrm>
          <a:prstGeom prst="line">
            <a:avLst/>
          </a:prstGeom>
          <a:noFill/>
          <a:ln w="9525">
            <a:solidFill>
              <a:srgbClr val="D9D9D9"/>
            </a:solidFill>
            <a:prstDash val="solid"/>
          </a:ln>
        </p:spPr>
      </p:sp>
      <p:sp>
        <p:nvSpPr>
          <p:cNvPr id="13" name="Shape 11"/>
          <p:cNvSpPr/>
          <p:nvPr/>
        </p:nvSpPr>
        <p:spPr>
          <a:xfrm>
            <a:off x="4229100" y="1371600"/>
            <a:ext cx="0" cy="2880360"/>
          </a:xfrm>
          <a:prstGeom prst="line">
            <a:avLst/>
          </a:prstGeom>
          <a:noFill/>
          <a:ln w="9525">
            <a:solidFill>
              <a:srgbClr val="D9D9D9"/>
            </a:solidFill>
            <a:prstDash val="solid"/>
          </a:ln>
        </p:spPr>
      </p:sp>
      <p:sp>
        <p:nvSpPr>
          <p:cNvPr id="14" name="Shape 12"/>
          <p:cNvSpPr/>
          <p:nvPr/>
        </p:nvSpPr>
        <p:spPr>
          <a:xfrm>
            <a:off x="4972050" y="1371600"/>
            <a:ext cx="0" cy="2880360"/>
          </a:xfrm>
          <a:prstGeom prst="line">
            <a:avLst/>
          </a:prstGeom>
          <a:noFill/>
          <a:ln w="9525">
            <a:solidFill>
              <a:srgbClr val="D9D9D9"/>
            </a:solidFill>
            <a:prstDash val="solid"/>
          </a:ln>
        </p:spPr>
      </p:sp>
      <p:sp>
        <p:nvSpPr>
          <p:cNvPr id="15" name="Shape 13"/>
          <p:cNvSpPr/>
          <p:nvPr/>
        </p:nvSpPr>
        <p:spPr>
          <a:xfrm>
            <a:off x="5715000" y="1371600"/>
            <a:ext cx="0" cy="2880360"/>
          </a:xfrm>
          <a:prstGeom prst="line">
            <a:avLst/>
          </a:prstGeom>
          <a:noFill/>
          <a:ln w="9525">
            <a:solidFill>
              <a:srgbClr val="D9D9D9"/>
            </a:solidFill>
            <a:prstDash val="solid"/>
          </a:ln>
        </p:spPr>
      </p:sp>
      <p:sp>
        <p:nvSpPr>
          <p:cNvPr id="16" name="Shape 14"/>
          <p:cNvSpPr/>
          <p:nvPr/>
        </p:nvSpPr>
        <p:spPr>
          <a:xfrm>
            <a:off x="6457950" y="1371600"/>
            <a:ext cx="0" cy="2880360"/>
          </a:xfrm>
          <a:prstGeom prst="line">
            <a:avLst/>
          </a:prstGeom>
          <a:noFill/>
          <a:ln w="9525">
            <a:solidFill>
              <a:srgbClr val="D9D9D9"/>
            </a:solidFill>
            <a:prstDash val="solid"/>
          </a:ln>
        </p:spPr>
      </p:sp>
      <p:sp>
        <p:nvSpPr>
          <p:cNvPr id="17" name="Shape 15"/>
          <p:cNvSpPr/>
          <p:nvPr/>
        </p:nvSpPr>
        <p:spPr>
          <a:xfrm>
            <a:off x="7200900" y="1371600"/>
            <a:ext cx="0" cy="2880360"/>
          </a:xfrm>
          <a:prstGeom prst="line">
            <a:avLst/>
          </a:prstGeom>
          <a:noFill/>
          <a:ln w="9525">
            <a:solidFill>
              <a:srgbClr val="D9D9D9"/>
            </a:solidFill>
            <a:prstDash val="solid"/>
          </a:ln>
        </p:spPr>
      </p:sp>
      <p:sp>
        <p:nvSpPr>
          <p:cNvPr id="18" name="Shape 16"/>
          <p:cNvSpPr/>
          <p:nvPr/>
        </p:nvSpPr>
        <p:spPr>
          <a:xfrm>
            <a:off x="7943850" y="1371600"/>
            <a:ext cx="0" cy="2880360"/>
          </a:xfrm>
          <a:prstGeom prst="line">
            <a:avLst/>
          </a:prstGeom>
          <a:noFill/>
          <a:ln w="9525">
            <a:solidFill>
              <a:srgbClr val="D9D9D9"/>
            </a:solidFill>
            <a:prstDash val="solid"/>
          </a:ln>
        </p:spPr>
      </p:sp>
      <p:sp>
        <p:nvSpPr>
          <p:cNvPr id="19" name="Shape 17"/>
          <p:cNvSpPr/>
          <p:nvPr/>
        </p:nvSpPr>
        <p:spPr>
          <a:xfrm>
            <a:off x="8686800" y="1371600"/>
            <a:ext cx="0" cy="2880360"/>
          </a:xfrm>
          <a:prstGeom prst="line">
            <a:avLst/>
          </a:prstGeom>
          <a:noFill/>
          <a:ln w="9525">
            <a:solidFill>
              <a:srgbClr val="D9D9D9"/>
            </a:solidFill>
            <a:prstDash val="solid"/>
          </a:ln>
        </p:spPr>
      </p:sp>
      <p:sp>
        <p:nvSpPr>
          <p:cNvPr id="20" name="Text 18"/>
          <p:cNvSpPr/>
          <p:nvPr/>
        </p:nvSpPr>
        <p:spPr>
          <a:xfrm>
            <a:off x="320040" y="1417320"/>
            <a:ext cx="2331720" cy="310896"/>
          </a:xfrm>
          <a:prstGeom prst="rect">
            <a:avLst/>
          </a:prstGeom>
          <a:noFill/>
          <a:ln/>
        </p:spPr>
        <p:txBody>
          <a:bodyPr wrap="square" lIns="0" tIns="0" rIns="0" bIns="0" rtlCol="0" anchor="ctr"/>
          <a:lstStyle/>
          <a:p>
            <a:pPr algn="r" indent="0" marL="0">
              <a:buNone/>
            </a:pPr>
            <a:r>
              <a:rPr lang="en-US" sz="950" dirty="0">
                <a:solidFill>
                  <a:srgbClr val="262626"/>
                </a:solidFill>
                <a:latin typeface="Calibri" pitchFamily="34" charset="0"/>
                <a:ea typeface="Calibri" pitchFamily="34" charset="-122"/>
                <a:cs typeface="Calibri" pitchFamily="34" charset="-120"/>
              </a:rPr>
              <a:t>Onboarding, scoping &amp; design (shared)</a:t>
            </a:r>
            <a:endParaRPr lang="en-US" sz="950" dirty="0"/>
          </a:p>
        </p:txBody>
      </p:sp>
      <p:sp>
        <p:nvSpPr>
          <p:cNvPr id="21" name="Shape 19"/>
          <p:cNvSpPr/>
          <p:nvPr/>
        </p:nvSpPr>
        <p:spPr>
          <a:xfrm>
            <a:off x="2743200" y="1481328"/>
            <a:ext cx="1485900" cy="182880"/>
          </a:xfrm>
          <a:prstGeom prst="roundRect">
            <a:avLst>
              <a:gd name="adj" fmla="val 15000"/>
            </a:avLst>
          </a:prstGeom>
          <a:solidFill>
            <a:srgbClr val="1F3864"/>
          </a:solidFill>
          <a:ln/>
        </p:spPr>
      </p:sp>
      <p:sp>
        <p:nvSpPr>
          <p:cNvPr id="22" name="Text 20"/>
          <p:cNvSpPr/>
          <p:nvPr/>
        </p:nvSpPr>
        <p:spPr>
          <a:xfrm>
            <a:off x="320040" y="1728216"/>
            <a:ext cx="2331720" cy="310896"/>
          </a:xfrm>
          <a:prstGeom prst="rect">
            <a:avLst/>
          </a:prstGeom>
          <a:noFill/>
          <a:ln/>
        </p:spPr>
        <p:txBody>
          <a:bodyPr wrap="square" lIns="0" tIns="0" rIns="0" bIns="0" rtlCol="0" anchor="ctr"/>
          <a:lstStyle/>
          <a:p>
            <a:pPr algn="r" indent="0" marL="0">
              <a:buNone/>
            </a:pPr>
            <a:r>
              <a:rPr lang="en-US" sz="950" dirty="0">
                <a:solidFill>
                  <a:srgbClr val="262626"/>
                </a:solidFill>
                <a:latin typeface="Calibri" pitchFamily="34" charset="0"/>
                <a:ea typeface="Calibri" pitchFamily="34" charset="-122"/>
                <a:cs typeface="Calibri" pitchFamily="34" charset="-120"/>
              </a:rPr>
              <a:t>Pre-processing pipelines &amp; baselines (shared)</a:t>
            </a:r>
            <a:endParaRPr lang="en-US" sz="950" dirty="0"/>
          </a:p>
        </p:txBody>
      </p:sp>
      <p:sp>
        <p:nvSpPr>
          <p:cNvPr id="23" name="Shape 21"/>
          <p:cNvSpPr/>
          <p:nvPr/>
        </p:nvSpPr>
        <p:spPr>
          <a:xfrm>
            <a:off x="4229100" y="1792224"/>
            <a:ext cx="1485900" cy="182880"/>
          </a:xfrm>
          <a:prstGeom prst="roundRect">
            <a:avLst>
              <a:gd name="adj" fmla="val 15000"/>
            </a:avLst>
          </a:prstGeom>
          <a:solidFill>
            <a:srgbClr val="8EAADB"/>
          </a:solidFill>
          <a:ln/>
        </p:spPr>
      </p:sp>
      <p:sp>
        <p:nvSpPr>
          <p:cNvPr id="24" name="Text 22"/>
          <p:cNvSpPr/>
          <p:nvPr/>
        </p:nvSpPr>
        <p:spPr>
          <a:xfrm>
            <a:off x="320040" y="2039112"/>
            <a:ext cx="2331720" cy="310896"/>
          </a:xfrm>
          <a:prstGeom prst="rect">
            <a:avLst/>
          </a:prstGeom>
          <a:noFill/>
          <a:ln/>
        </p:spPr>
        <p:txBody>
          <a:bodyPr wrap="square" lIns="0" tIns="0" rIns="0" bIns="0" rtlCol="0" anchor="ctr"/>
          <a:lstStyle/>
          <a:p>
            <a:pPr algn="r" indent="0" marL="0">
              <a:buNone/>
            </a:pPr>
            <a:r>
              <a:rPr lang="en-US" sz="950" dirty="0">
                <a:solidFill>
                  <a:srgbClr val="262626"/>
                </a:solidFill>
                <a:latin typeface="Calibri" pitchFamily="34" charset="0"/>
                <a:ea typeface="Calibri" pitchFamily="34" charset="-122"/>
                <a:cs typeface="Calibri" pitchFamily="34" charset="-120"/>
              </a:rPr>
              <a:t>P1: Model development (themes 1.1 - 1.4)</a:t>
            </a:r>
            <a:endParaRPr lang="en-US" sz="950" dirty="0"/>
          </a:p>
        </p:txBody>
      </p:sp>
      <p:sp>
        <p:nvSpPr>
          <p:cNvPr id="25" name="Shape 23"/>
          <p:cNvSpPr/>
          <p:nvPr/>
        </p:nvSpPr>
        <p:spPr>
          <a:xfrm>
            <a:off x="4972050" y="2103120"/>
            <a:ext cx="1857375" cy="182880"/>
          </a:xfrm>
          <a:prstGeom prst="roundRect">
            <a:avLst>
              <a:gd name="adj" fmla="val 15000"/>
            </a:avLst>
          </a:prstGeom>
          <a:solidFill>
            <a:srgbClr val="8EAADB"/>
          </a:solidFill>
          <a:ln/>
        </p:spPr>
      </p:sp>
      <p:sp>
        <p:nvSpPr>
          <p:cNvPr id="26" name="Text 24"/>
          <p:cNvSpPr/>
          <p:nvPr/>
        </p:nvSpPr>
        <p:spPr>
          <a:xfrm>
            <a:off x="320040" y="2350008"/>
            <a:ext cx="2331720" cy="310896"/>
          </a:xfrm>
          <a:prstGeom prst="rect">
            <a:avLst/>
          </a:prstGeom>
          <a:noFill/>
          <a:ln/>
        </p:spPr>
        <p:txBody>
          <a:bodyPr wrap="square" lIns="0" tIns="0" rIns="0" bIns="0" rtlCol="0" anchor="ctr"/>
          <a:lstStyle/>
          <a:p>
            <a:pPr algn="r" indent="0" marL="0">
              <a:buNone/>
            </a:pPr>
            <a:r>
              <a:rPr lang="en-US" sz="950" dirty="0">
                <a:solidFill>
                  <a:srgbClr val="262626"/>
                </a:solidFill>
                <a:latin typeface="Calibri" pitchFamily="34" charset="0"/>
                <a:ea typeface="Calibri" pitchFamily="34" charset="-122"/>
                <a:cs typeface="Calibri" pitchFamily="34" charset="-120"/>
              </a:rPr>
              <a:t>P1: Imbalance benchmarks &amp; evaluation (1.5)</a:t>
            </a:r>
            <a:endParaRPr lang="en-US" sz="950" dirty="0"/>
          </a:p>
        </p:txBody>
      </p:sp>
      <p:sp>
        <p:nvSpPr>
          <p:cNvPr id="27" name="Shape 25"/>
          <p:cNvSpPr/>
          <p:nvPr/>
        </p:nvSpPr>
        <p:spPr>
          <a:xfrm>
            <a:off x="6086475" y="2414016"/>
            <a:ext cx="1114425" cy="182880"/>
          </a:xfrm>
          <a:prstGeom prst="roundRect">
            <a:avLst>
              <a:gd name="adj" fmla="val 15000"/>
            </a:avLst>
          </a:prstGeom>
          <a:solidFill>
            <a:srgbClr val="8EAADB"/>
          </a:solidFill>
          <a:ln/>
        </p:spPr>
      </p:sp>
      <p:sp>
        <p:nvSpPr>
          <p:cNvPr id="28" name="Text 26"/>
          <p:cNvSpPr/>
          <p:nvPr/>
        </p:nvSpPr>
        <p:spPr>
          <a:xfrm>
            <a:off x="320040" y="2660904"/>
            <a:ext cx="2331720" cy="310896"/>
          </a:xfrm>
          <a:prstGeom prst="rect">
            <a:avLst/>
          </a:prstGeom>
          <a:noFill/>
          <a:ln/>
        </p:spPr>
        <p:txBody>
          <a:bodyPr wrap="square" lIns="0" tIns="0" rIns="0" bIns="0" rtlCol="0" anchor="ctr"/>
          <a:lstStyle/>
          <a:p>
            <a:pPr algn="r" indent="0" marL="0">
              <a:buNone/>
            </a:pPr>
            <a:r>
              <a:rPr lang="en-US" sz="950" dirty="0">
                <a:solidFill>
                  <a:srgbClr val="262626"/>
                </a:solidFill>
                <a:latin typeface="Calibri" pitchFamily="34" charset="0"/>
                <a:ea typeface="Calibri" pitchFamily="34" charset="-122"/>
                <a:cs typeface="Calibri" pitchFamily="34" charset="-120"/>
              </a:rPr>
              <a:t>P2: FT-Transformer pre-training &amp; fine-tuning</a:t>
            </a:r>
            <a:endParaRPr lang="en-US" sz="950" dirty="0"/>
          </a:p>
        </p:txBody>
      </p:sp>
      <p:sp>
        <p:nvSpPr>
          <p:cNvPr id="29" name="Shape 27"/>
          <p:cNvSpPr/>
          <p:nvPr/>
        </p:nvSpPr>
        <p:spPr>
          <a:xfrm>
            <a:off x="4972050" y="2724912"/>
            <a:ext cx="1857375" cy="182880"/>
          </a:xfrm>
          <a:prstGeom prst="roundRect">
            <a:avLst>
              <a:gd name="adj" fmla="val 15000"/>
            </a:avLst>
          </a:prstGeom>
          <a:solidFill>
            <a:srgbClr val="8EAADB"/>
          </a:solidFill>
          <a:ln/>
        </p:spPr>
      </p:sp>
      <p:sp>
        <p:nvSpPr>
          <p:cNvPr id="30" name="Text 28"/>
          <p:cNvSpPr/>
          <p:nvPr/>
        </p:nvSpPr>
        <p:spPr>
          <a:xfrm>
            <a:off x="320040" y="2971800"/>
            <a:ext cx="2331720" cy="310896"/>
          </a:xfrm>
          <a:prstGeom prst="rect">
            <a:avLst/>
          </a:prstGeom>
          <a:noFill/>
          <a:ln/>
        </p:spPr>
        <p:txBody>
          <a:bodyPr wrap="square" lIns="0" tIns="0" rIns="0" bIns="0" rtlCol="0" anchor="ctr"/>
          <a:lstStyle/>
          <a:p>
            <a:pPr algn="r" indent="0" marL="0">
              <a:buNone/>
            </a:pPr>
            <a:r>
              <a:rPr lang="en-US" sz="950" dirty="0">
                <a:solidFill>
                  <a:srgbClr val="262626"/>
                </a:solidFill>
                <a:latin typeface="Calibri" pitchFamily="34" charset="0"/>
                <a:ea typeface="Calibri" pitchFamily="34" charset="-122"/>
                <a:cs typeface="Calibri" pitchFamily="34" charset="-120"/>
              </a:rPr>
              <a:t>P2: Cross-industry validation &amp; segmentation</a:t>
            </a:r>
            <a:endParaRPr lang="en-US" sz="950" dirty="0"/>
          </a:p>
        </p:txBody>
      </p:sp>
      <p:sp>
        <p:nvSpPr>
          <p:cNvPr id="31" name="Shape 29"/>
          <p:cNvSpPr/>
          <p:nvPr/>
        </p:nvSpPr>
        <p:spPr>
          <a:xfrm>
            <a:off x="6086475" y="3035808"/>
            <a:ext cx="1114425" cy="182880"/>
          </a:xfrm>
          <a:prstGeom prst="roundRect">
            <a:avLst>
              <a:gd name="adj" fmla="val 15000"/>
            </a:avLst>
          </a:prstGeom>
          <a:solidFill>
            <a:srgbClr val="8EAADB"/>
          </a:solidFill>
          <a:ln/>
        </p:spPr>
      </p:sp>
      <p:sp>
        <p:nvSpPr>
          <p:cNvPr id="32" name="Text 30"/>
          <p:cNvSpPr/>
          <p:nvPr/>
        </p:nvSpPr>
        <p:spPr>
          <a:xfrm>
            <a:off x="320040" y="3282696"/>
            <a:ext cx="2331720" cy="310896"/>
          </a:xfrm>
          <a:prstGeom prst="rect">
            <a:avLst/>
          </a:prstGeom>
          <a:noFill/>
          <a:ln/>
        </p:spPr>
        <p:txBody>
          <a:bodyPr wrap="square" lIns="0" tIns="0" rIns="0" bIns="0" rtlCol="0" anchor="ctr"/>
          <a:lstStyle/>
          <a:p>
            <a:pPr algn="r" indent="0" marL="0">
              <a:buNone/>
            </a:pPr>
            <a:r>
              <a:rPr lang="en-US" sz="950" dirty="0">
                <a:solidFill>
                  <a:srgbClr val="262626"/>
                </a:solidFill>
                <a:latin typeface="Calibri" pitchFamily="34" charset="0"/>
                <a:ea typeface="Calibri" pitchFamily="34" charset="-122"/>
                <a:cs typeface="Calibri" pitchFamily="34" charset="-120"/>
              </a:rPr>
              <a:t>Final technical reports (both projects)</a:t>
            </a:r>
            <a:endParaRPr lang="en-US" sz="950" dirty="0"/>
          </a:p>
        </p:txBody>
      </p:sp>
      <p:sp>
        <p:nvSpPr>
          <p:cNvPr id="33" name="Shape 31"/>
          <p:cNvSpPr/>
          <p:nvPr/>
        </p:nvSpPr>
        <p:spPr>
          <a:xfrm>
            <a:off x="6457950" y="3346704"/>
            <a:ext cx="742950" cy="182880"/>
          </a:xfrm>
          <a:prstGeom prst="roundRect">
            <a:avLst>
              <a:gd name="adj" fmla="val 15000"/>
            </a:avLst>
          </a:prstGeom>
          <a:solidFill>
            <a:srgbClr val="8EAADB"/>
          </a:solidFill>
          <a:ln/>
        </p:spPr>
      </p:sp>
      <p:sp>
        <p:nvSpPr>
          <p:cNvPr id="34" name="Text 32"/>
          <p:cNvSpPr/>
          <p:nvPr/>
        </p:nvSpPr>
        <p:spPr>
          <a:xfrm>
            <a:off x="320040" y="3593592"/>
            <a:ext cx="2331720" cy="310896"/>
          </a:xfrm>
          <a:prstGeom prst="rect">
            <a:avLst/>
          </a:prstGeom>
          <a:noFill/>
          <a:ln/>
        </p:spPr>
        <p:txBody>
          <a:bodyPr wrap="square" lIns="0" tIns="0" rIns="0" bIns="0" rtlCol="0" anchor="ctr"/>
          <a:lstStyle/>
          <a:p>
            <a:pPr algn="r" indent="0" marL="0">
              <a:buNone/>
            </a:pPr>
            <a:r>
              <a:rPr lang="en-US" sz="950" dirty="0">
                <a:solidFill>
                  <a:srgbClr val="262626"/>
                </a:solidFill>
                <a:latin typeface="Calibri" pitchFamily="34" charset="0"/>
                <a:ea typeface="Calibri" pitchFamily="34" charset="-122"/>
                <a:cs typeface="Calibri" pitchFamily="34" charset="-120"/>
              </a:rPr>
              <a:t>Paper writing &amp; submissions</a:t>
            </a:r>
            <a:endParaRPr lang="en-US" sz="950" dirty="0"/>
          </a:p>
        </p:txBody>
      </p:sp>
      <p:sp>
        <p:nvSpPr>
          <p:cNvPr id="35" name="Shape 33"/>
          <p:cNvSpPr/>
          <p:nvPr/>
        </p:nvSpPr>
        <p:spPr>
          <a:xfrm>
            <a:off x="6457950" y="3657600"/>
            <a:ext cx="1485900" cy="182880"/>
          </a:xfrm>
          <a:prstGeom prst="roundRect">
            <a:avLst>
              <a:gd name="adj" fmla="val 15000"/>
            </a:avLst>
          </a:prstGeom>
          <a:solidFill>
            <a:srgbClr val="BFBFBF"/>
          </a:solidFill>
          <a:ln/>
        </p:spPr>
      </p:sp>
      <p:sp>
        <p:nvSpPr>
          <p:cNvPr id="36" name="Text 34"/>
          <p:cNvSpPr/>
          <p:nvPr/>
        </p:nvSpPr>
        <p:spPr>
          <a:xfrm>
            <a:off x="320040" y="3904488"/>
            <a:ext cx="2331720" cy="310896"/>
          </a:xfrm>
          <a:prstGeom prst="rect">
            <a:avLst/>
          </a:prstGeom>
          <a:noFill/>
          <a:ln/>
        </p:spPr>
        <p:txBody>
          <a:bodyPr wrap="square" lIns="0" tIns="0" rIns="0" bIns="0" rtlCol="0" anchor="ctr"/>
          <a:lstStyle/>
          <a:p>
            <a:pPr algn="r" indent="0" marL="0">
              <a:buNone/>
            </a:pPr>
            <a:r>
              <a:rPr lang="en-US" sz="950" dirty="0">
                <a:solidFill>
                  <a:srgbClr val="262626"/>
                </a:solidFill>
                <a:latin typeface="Calibri" pitchFamily="34" charset="0"/>
                <a:ea typeface="Calibri" pitchFamily="34" charset="-122"/>
                <a:cs typeface="Calibri" pitchFamily="34" charset="-120"/>
              </a:rPr>
              <a:t>Conference presentations &amp; journal follow-up</a:t>
            </a:r>
            <a:endParaRPr lang="en-US" sz="950" dirty="0"/>
          </a:p>
        </p:txBody>
      </p:sp>
      <p:sp>
        <p:nvSpPr>
          <p:cNvPr id="37" name="Shape 35"/>
          <p:cNvSpPr/>
          <p:nvPr/>
        </p:nvSpPr>
        <p:spPr>
          <a:xfrm>
            <a:off x="7200900" y="3968496"/>
            <a:ext cx="1485900" cy="182880"/>
          </a:xfrm>
          <a:prstGeom prst="roundRect">
            <a:avLst>
              <a:gd name="adj" fmla="val 15000"/>
            </a:avLst>
          </a:prstGeom>
          <a:solidFill>
            <a:srgbClr val="BFBFBF"/>
          </a:solidFill>
          <a:ln/>
        </p:spPr>
      </p:sp>
      <p:sp>
        <p:nvSpPr>
          <p:cNvPr id="38" name="Shape 36"/>
          <p:cNvSpPr/>
          <p:nvPr/>
        </p:nvSpPr>
        <p:spPr>
          <a:xfrm>
            <a:off x="4429697" y="1371600"/>
            <a:ext cx="0" cy="2880360"/>
          </a:xfrm>
          <a:prstGeom prst="line">
            <a:avLst/>
          </a:prstGeom>
          <a:noFill/>
          <a:ln w="15875">
            <a:solidFill>
              <a:srgbClr val="C00000"/>
            </a:solidFill>
            <a:prstDash val="dash"/>
          </a:ln>
        </p:spPr>
      </p:sp>
      <p:sp>
        <p:nvSpPr>
          <p:cNvPr id="39" name="Text 37"/>
          <p:cNvSpPr/>
          <p:nvPr/>
        </p:nvSpPr>
        <p:spPr>
          <a:xfrm>
            <a:off x="4063937" y="4261104"/>
            <a:ext cx="731520" cy="182880"/>
          </a:xfrm>
          <a:prstGeom prst="rect">
            <a:avLst/>
          </a:prstGeom>
          <a:noFill/>
          <a:ln/>
        </p:spPr>
        <p:txBody>
          <a:bodyPr wrap="square" lIns="0" tIns="0" rIns="0" bIns="0" rtlCol="0" anchor="ctr"/>
          <a:lstStyle/>
          <a:p>
            <a:pPr algn="ctr" indent="0" marL="0">
              <a:buNone/>
            </a:pPr>
            <a:r>
              <a:rPr lang="en-US" sz="900" dirty="0">
                <a:solidFill>
                  <a:srgbClr val="C00000"/>
                </a:solidFill>
                <a:latin typeface="Calibri" pitchFamily="34" charset="0"/>
                <a:ea typeface="Calibri" pitchFamily="34" charset="-122"/>
                <a:cs typeface="Calibri" pitchFamily="34" charset="-120"/>
              </a:rPr>
              <a:t>today</a:t>
            </a:r>
            <a:endParaRPr lang="en-US" sz="900" dirty="0"/>
          </a:p>
        </p:txBody>
      </p:sp>
      <p:sp>
        <p:nvSpPr>
          <p:cNvPr id="40" name="Shape 38"/>
          <p:cNvSpPr/>
          <p:nvPr/>
        </p:nvSpPr>
        <p:spPr>
          <a:xfrm>
            <a:off x="7200900" y="1371600"/>
            <a:ext cx="0" cy="2880360"/>
          </a:xfrm>
          <a:prstGeom prst="line">
            <a:avLst/>
          </a:prstGeom>
          <a:noFill/>
          <a:ln w="15875">
            <a:solidFill>
              <a:srgbClr val="595959"/>
            </a:solidFill>
            <a:prstDash val="sysDot"/>
          </a:ln>
        </p:spPr>
      </p:sp>
      <p:sp>
        <p:nvSpPr>
          <p:cNvPr id="41" name="Text 39"/>
          <p:cNvSpPr/>
          <p:nvPr/>
        </p:nvSpPr>
        <p:spPr>
          <a:xfrm>
            <a:off x="6423660" y="4261104"/>
            <a:ext cx="1554480" cy="182880"/>
          </a:xfrm>
          <a:prstGeom prst="rect">
            <a:avLst/>
          </a:prstGeom>
          <a:noFill/>
          <a:ln/>
        </p:spPr>
        <p:txBody>
          <a:bodyPr wrap="square" lIns="0" tIns="0" rIns="0" bIns="0" rtlCol="0" anchor="ctr"/>
          <a:lstStyle/>
          <a:p>
            <a:pPr algn="ctr" indent="0" marL="0">
              <a:buNone/>
            </a:pPr>
            <a:r>
              <a:rPr lang="en-US" sz="900" dirty="0">
                <a:solidFill>
                  <a:srgbClr val="595959"/>
                </a:solidFill>
                <a:latin typeface="Calibri" pitchFamily="34" charset="0"/>
                <a:ea typeface="Calibri" pitchFamily="34" charset="-122"/>
                <a:cs typeface="Calibri" pitchFamily="34" charset="-120"/>
              </a:rPr>
              <a:t>6-month mark (31 Oct)</a:t>
            </a:r>
            <a:endParaRPr lang="en-US" sz="900" dirty="0"/>
          </a:p>
        </p:txBody>
      </p:sp>
      <p:sp>
        <p:nvSpPr>
          <p:cNvPr id="42" name="Shape 40"/>
          <p:cNvSpPr/>
          <p:nvPr/>
        </p:nvSpPr>
        <p:spPr>
          <a:xfrm>
            <a:off x="457200" y="4590288"/>
            <a:ext cx="201168" cy="128016"/>
          </a:xfrm>
          <a:prstGeom prst="rect">
            <a:avLst/>
          </a:prstGeom>
          <a:solidFill>
            <a:srgbClr val="1F3864"/>
          </a:solidFill>
          <a:ln/>
        </p:spPr>
      </p:sp>
      <p:sp>
        <p:nvSpPr>
          <p:cNvPr id="43" name="Text 41"/>
          <p:cNvSpPr/>
          <p:nvPr/>
        </p:nvSpPr>
        <p:spPr>
          <a:xfrm>
            <a:off x="731520" y="4544568"/>
            <a:ext cx="2011680" cy="219456"/>
          </a:xfrm>
          <a:prstGeom prst="rect">
            <a:avLst/>
          </a:prstGeom>
          <a:noFill/>
          <a:ln/>
        </p:spPr>
        <p:txBody>
          <a:bodyPr wrap="square" lIns="0" tIns="0" rIns="0" bIns="0" rtlCol="0" anchor="ctr"/>
          <a:lstStyle/>
          <a:p>
            <a:pPr indent="0" marL="0">
              <a:buNone/>
            </a:pPr>
            <a:r>
              <a:rPr lang="en-US" sz="1000" dirty="0">
                <a:solidFill>
                  <a:srgbClr val="262626"/>
                </a:solidFill>
                <a:latin typeface="Calibri" pitchFamily="34" charset="0"/>
                <a:ea typeface="Calibri" pitchFamily="34" charset="-122"/>
                <a:cs typeface="Calibri" pitchFamily="34" charset="-120"/>
              </a:rPr>
              <a:t>Completed</a:t>
            </a:r>
            <a:endParaRPr lang="en-US" sz="1000" dirty="0"/>
          </a:p>
        </p:txBody>
      </p:sp>
      <p:sp>
        <p:nvSpPr>
          <p:cNvPr id="44" name="Shape 42"/>
          <p:cNvSpPr/>
          <p:nvPr/>
        </p:nvSpPr>
        <p:spPr>
          <a:xfrm>
            <a:off x="2743200" y="4590288"/>
            <a:ext cx="201168" cy="128016"/>
          </a:xfrm>
          <a:prstGeom prst="rect">
            <a:avLst/>
          </a:prstGeom>
          <a:solidFill>
            <a:srgbClr val="8EAADB"/>
          </a:solidFill>
          <a:ln/>
        </p:spPr>
      </p:sp>
      <p:sp>
        <p:nvSpPr>
          <p:cNvPr id="45" name="Text 43"/>
          <p:cNvSpPr/>
          <p:nvPr/>
        </p:nvSpPr>
        <p:spPr>
          <a:xfrm>
            <a:off x="3017520" y="4544568"/>
            <a:ext cx="2011680" cy="219456"/>
          </a:xfrm>
          <a:prstGeom prst="rect">
            <a:avLst/>
          </a:prstGeom>
          <a:noFill/>
          <a:ln/>
        </p:spPr>
        <p:txBody>
          <a:bodyPr wrap="square" lIns="0" tIns="0" rIns="0" bIns="0" rtlCol="0" anchor="ctr"/>
          <a:lstStyle/>
          <a:p>
            <a:pPr indent="0" marL="0">
              <a:buNone/>
            </a:pPr>
            <a:r>
              <a:rPr lang="en-US" sz="1000" dirty="0">
                <a:solidFill>
                  <a:srgbClr val="262626"/>
                </a:solidFill>
                <a:latin typeface="Calibri" pitchFamily="34" charset="0"/>
                <a:ea typeface="Calibri" pitchFamily="34" charset="-122"/>
                <a:cs typeface="Calibri" pitchFamily="34" charset="-120"/>
              </a:rPr>
              <a:t>Development (planned)</a:t>
            </a:r>
            <a:endParaRPr lang="en-US" sz="1000" dirty="0"/>
          </a:p>
        </p:txBody>
      </p:sp>
      <p:sp>
        <p:nvSpPr>
          <p:cNvPr id="46" name="Shape 44"/>
          <p:cNvSpPr/>
          <p:nvPr/>
        </p:nvSpPr>
        <p:spPr>
          <a:xfrm>
            <a:off x="5029200" y="4590288"/>
            <a:ext cx="201168" cy="128016"/>
          </a:xfrm>
          <a:prstGeom prst="rect">
            <a:avLst/>
          </a:prstGeom>
          <a:solidFill>
            <a:srgbClr val="BFBFBF"/>
          </a:solidFill>
          <a:ln/>
        </p:spPr>
      </p:sp>
      <p:sp>
        <p:nvSpPr>
          <p:cNvPr id="47" name="Text 45"/>
          <p:cNvSpPr/>
          <p:nvPr/>
        </p:nvSpPr>
        <p:spPr>
          <a:xfrm>
            <a:off x="5303520" y="4544568"/>
            <a:ext cx="2011680" cy="219456"/>
          </a:xfrm>
          <a:prstGeom prst="rect">
            <a:avLst/>
          </a:prstGeom>
          <a:noFill/>
          <a:ln/>
        </p:spPr>
        <p:txBody>
          <a:bodyPr wrap="square" lIns="0" tIns="0" rIns="0" bIns="0" rtlCol="0" anchor="ctr"/>
          <a:lstStyle/>
          <a:p>
            <a:pPr indent="0" marL="0">
              <a:buNone/>
            </a:pPr>
            <a:r>
              <a:rPr lang="en-US" sz="1000" dirty="0">
                <a:solidFill>
                  <a:srgbClr val="262626"/>
                </a:solidFill>
                <a:latin typeface="Calibri" pitchFamily="34" charset="0"/>
                <a:ea typeface="Calibri" pitchFamily="34" charset="-122"/>
                <a:cs typeface="Calibri" pitchFamily="34" charset="-120"/>
              </a:rPr>
              <a:t>Publication &amp; dissemination</a:t>
            </a:r>
            <a:endParaRPr lang="en-US" sz="1000" dirty="0"/>
          </a:p>
        </p:txBody>
      </p:sp>
      <p:sp>
        <p:nvSpPr>
          <p:cNvPr id="48" name="Text 46"/>
          <p:cNvSpPr/>
          <p:nvPr/>
        </p:nvSpPr>
        <p:spPr>
          <a:xfrm>
            <a:off x="457200" y="4846320"/>
            <a:ext cx="8229600" cy="228600"/>
          </a:xfrm>
          <a:prstGeom prst="rect">
            <a:avLst/>
          </a:prstGeom>
          <a:noFill/>
          <a:ln/>
        </p:spPr>
        <p:txBody>
          <a:bodyPr wrap="square" lIns="0" tIns="0" rIns="0" bIns="0" rtlCol="0" anchor="ctr"/>
          <a:lstStyle/>
          <a:p>
            <a:pPr indent="0" marL="0">
              <a:buNone/>
            </a:pPr>
            <a:r>
              <a:rPr lang="en-US" sz="950" i="1" dirty="0">
                <a:solidFill>
                  <a:srgbClr val="595959"/>
                </a:solidFill>
                <a:latin typeface="Calibri" pitchFamily="34" charset="0"/>
                <a:ea typeface="Calibri" pitchFamily="34" charset="-122"/>
                <a:cs typeface="Calibri" pitchFamily="34" charset="-120"/>
              </a:rPr>
              <a:t>Core project window: 1 May - 31 Oct 2026 (6 months). Nov - Dec reserved for publications and conferences.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indent="0" marL="0">
              <a:buNone/>
            </a:pPr>
            <a:r>
              <a:rPr lang="en-US" sz="2400" b="1" dirty="0">
                <a:solidFill>
                  <a:srgbClr val="1F3864"/>
                </a:solidFill>
                <a:latin typeface="Calibri" pitchFamily="34" charset="0"/>
                <a:ea typeface="Calibri" pitchFamily="34" charset="-122"/>
                <a:cs typeface="Calibri" pitchFamily="34" charset="-120"/>
              </a:rPr>
              <a:t>Current Status and Plan</a:t>
            </a:r>
            <a:endParaRPr lang="en-US" sz="2400" dirty="0"/>
          </a:p>
        </p:txBody>
      </p:sp>
      <p:sp>
        <p:nvSpPr>
          <p:cNvPr id="3" name="Text 1"/>
          <p:cNvSpPr/>
          <p:nvPr/>
        </p:nvSpPr>
        <p:spPr>
          <a:xfrm>
            <a:off x="457200" y="960120"/>
            <a:ext cx="8229600" cy="594360"/>
          </a:xfrm>
          <a:prstGeom prst="rect">
            <a:avLst/>
          </a:prstGeom>
          <a:noFill/>
          <a:ln/>
        </p:spPr>
        <p:txBody>
          <a:bodyPr wrap="square" lIns="0" tIns="0" rIns="0" bIns="0" rtlCol="0" anchor="ctr"/>
          <a:lstStyle/>
          <a:p>
            <a:pPr indent="0" marL="0">
              <a:buNone/>
            </a:pPr>
            <a:r>
              <a:rPr lang="en-US" sz="1350" dirty="0">
                <a:solidFill>
                  <a:srgbClr val="262626"/>
                </a:solidFill>
                <a:latin typeface="Calibri" pitchFamily="34" charset="0"/>
                <a:ea typeface="Calibri" pitchFamily="34" charset="-122"/>
                <a:cs typeface="Calibri" pitchFamily="34" charset="-120"/>
              </a:rPr>
              <a:t>Months 1 and 2 went into onboarding, data access and credentialing, environment setup, and the design work shown in the previous slides. Development starts now on the schedule below.</a:t>
            </a:r>
            <a:endParaRPr lang="en-US" sz="13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8229600" cy="914400"/>
        </p:xfrm>
        <a:graphic>
          <a:graphicData uri="http://schemas.openxmlformats.org/drawingml/2006/table">
            <a:tbl>
              <a:tblPr/>
              <a:tblGrid>
                <a:gridCol w="1554480"/>
                <a:gridCol w="1828800"/>
                <a:gridCol w="3931920"/>
                <a:gridCol w="91440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Period</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Phase</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Work</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r>
              <a:tr h="438912">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May - Jun 2026</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Groundwork</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Onboarding, scoping, architecture and data-strategy design</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Done</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Jul - Aug 2026</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Pipelines &amp; baselines</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Pre-processing v1; XGBoost / CatBoost / TabNet baselines</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Starting</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438912">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Sep - Oct 2026</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Core models &amp; evaluation</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Sparse-event encoder; FT-Transformer pre-training; benchmarks and final reports</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Planned</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Nov - Dec 2026</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Publication</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Paper submissions, conference presentations, journal follow-up</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200" dirty="0">
                          <a:solidFill>
                            <a:srgbClr val="262626"/>
                          </a:solidFill>
                          <a:latin typeface="Calibri" pitchFamily="34" charset="0"/>
                          <a:ea typeface="Calibri" pitchFamily="34" charset="-122"/>
                          <a:cs typeface="Calibri" pitchFamily="34" charset="-120"/>
                        </a:rPr>
                        <a:t>Planned</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bl>
          </a:graphicData>
        </a:graphic>
      </p:graphicFrame>
      <p:sp>
        <p:nvSpPr>
          <p:cNvPr id="5" name="Text 2"/>
          <p:cNvSpPr/>
          <p:nvPr/>
        </p:nvSpPr>
        <p:spPr>
          <a:xfrm>
            <a:off x="457200" y="4069080"/>
            <a:ext cx="8229600" cy="320040"/>
          </a:xfrm>
          <a:prstGeom prst="rect">
            <a:avLst/>
          </a:prstGeom>
          <a:noFill/>
          <a:ln/>
        </p:spPr>
        <p:txBody>
          <a:bodyPr wrap="square" lIns="0" tIns="0" rIns="0" bIns="0" rtlCol="0" anchor="ctr"/>
          <a:lstStyle/>
          <a:p>
            <a:pPr indent="0" marL="0">
              <a:buNone/>
            </a:pPr>
            <a:r>
              <a:rPr lang="en-US" sz="1300" b="1" dirty="0">
                <a:solidFill>
                  <a:srgbClr val="262626"/>
                </a:solidFill>
                <a:latin typeface="Calibri" pitchFamily="34" charset="0"/>
                <a:ea typeface="Calibri" pitchFamily="34" charset="-122"/>
                <a:cs typeface="Calibri" pitchFamily="34" charset="-120"/>
              </a:rPr>
              <a:t>Next 30 days:</a:t>
            </a:r>
            <a:endParaRPr lang="en-US" sz="1300" dirty="0"/>
          </a:p>
        </p:txBody>
      </p:sp>
      <p:sp>
        <p:nvSpPr>
          <p:cNvPr id="6" name="Text 3"/>
          <p:cNvSpPr/>
          <p:nvPr/>
        </p:nvSpPr>
        <p:spPr>
          <a:xfrm>
            <a:off x="457200" y="4370832"/>
            <a:ext cx="8229600" cy="7315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262626"/>
                </a:solidFill>
                <a:latin typeface="Calibri" pitchFamily="34" charset="0"/>
                <a:ea typeface="Calibri" pitchFamily="34" charset="-122"/>
                <a:cs typeface="Calibri" pitchFamily="34" charset="-120"/>
              </a:rPr>
              <a:t>Baselines running on PaySim and IEEE-CIS with AUROC / F1 reporting</a:t>
            </a:r>
            <a:endParaRPr lang="en-US" sz="1200" dirty="0"/>
          </a:p>
          <a:p>
            <a:pPr marL="342900" indent="-342900">
              <a:spcAft>
                <a:spcPts val="400"/>
              </a:spcAft>
              <a:buSzPct val="100000"/>
              <a:buChar char="•"/>
            </a:pPr>
            <a:r>
              <a:rPr lang="en-US" sz="1200" dirty="0">
                <a:solidFill>
                  <a:srgbClr val="262626"/>
                </a:solidFill>
                <a:latin typeface="Calibri" pitchFamily="34" charset="0"/>
                <a:ea typeface="Calibri" pitchFamily="34" charset="-122"/>
                <a:cs typeface="Calibri" pitchFamily="34" charset="-120"/>
              </a:rPr>
              <a:t>Pre-processing pipeline v1 working across the five available datasets</a:t>
            </a:r>
            <a:endParaRPr lang="en-US" sz="1200" dirty="0"/>
          </a:p>
          <a:p>
            <a:pPr marL="342900" indent="-342900">
              <a:spcAft>
                <a:spcPts val="400"/>
              </a:spcAft>
              <a:buSzPct val="100000"/>
              <a:buChar char="•"/>
            </a:pPr>
            <a:r>
              <a:rPr lang="en-US" sz="1200" dirty="0">
                <a:solidFill>
                  <a:srgbClr val="262626"/>
                </a:solidFill>
                <a:latin typeface="Calibri" pitchFamily="34" charset="0"/>
                <a:ea typeface="Calibri" pitchFamily="34" charset="-122"/>
                <a:cs typeface="Calibri" pitchFamily="34" charset="-120"/>
              </a:rPr>
              <a:t>MIMIC-III credentialing completed; begin sparse-event encoder implementation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Update - IITB Optiver AI Innovation Lab</dc:title>
  <dc:subject>PptxGenJS Presentation</dc:subject>
  <dc:creator>Aabid Hassan</dc:creator>
  <cp:lastModifiedBy>Aabid Hassan</cp:lastModifiedBy>
  <cp:revision>1</cp:revision>
  <dcterms:created xsi:type="dcterms:W3CDTF">2026-07-10T07:29:42Z</dcterms:created>
  <dcterms:modified xsi:type="dcterms:W3CDTF">2026-07-10T07:29:42Z</dcterms:modified>
</cp:coreProperties>
</file>